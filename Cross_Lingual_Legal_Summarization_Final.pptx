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6" r:id="rId9"/>
    <p:sldId id="267" r:id="rId10"/>
    <p:sldId id="268"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8288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92608"/>
            <a:ext cx="11155680" cy="731520"/>
          </a:xfrm>
          <a:prstGeom prst="rect">
            <a:avLst/>
          </a:prstGeom>
          <a:noFill/>
        </p:spPr>
        <p:txBody>
          <a:bodyPr wrap="none">
            <a:spAutoFit/>
          </a:bodyPr>
          <a:lstStyle/>
          <a:p>
            <a:pPr>
              <a:defRPr sz="3000" b="1">
                <a:solidFill>
                  <a:srgbClr val="FFFFFF"/>
                </a:solidFill>
              </a:defRPr>
            </a:pPr>
            <a:r>
              <a:t>Cross-Lingual Legal Summarization</a:t>
            </a:r>
          </a:p>
        </p:txBody>
      </p:sp>
      <p:sp>
        <p:nvSpPr>
          <p:cNvPr id="5" name="TextBox 4"/>
          <p:cNvSpPr txBox="1"/>
          <p:nvPr/>
        </p:nvSpPr>
        <p:spPr>
          <a:xfrm>
            <a:off x="548640" y="914400"/>
            <a:ext cx="11155680" cy="640080"/>
          </a:xfrm>
          <a:prstGeom prst="rect">
            <a:avLst/>
          </a:prstGeom>
          <a:noFill/>
        </p:spPr>
        <p:txBody>
          <a:bodyPr wrap="none">
            <a:spAutoFit/>
          </a:bodyPr>
          <a:lstStyle/>
          <a:p>
            <a:pPr>
              <a:defRPr sz="1500">
                <a:solidFill>
                  <a:srgbClr val="C9D8EC"/>
                </a:solidFill>
              </a:defRPr>
            </a:pPr>
            <a:r>
              <a:t>English → Hindi Legal Judgment Summarization using MILDSum</a:t>
            </a:r>
          </a:p>
        </p:txBody>
      </p:sp>
      <p:sp>
        <p:nvSpPr>
          <p:cNvPr id="6" name="Rounded Rectangle 5"/>
          <p:cNvSpPr/>
          <p:nvPr/>
        </p:nvSpPr>
        <p:spPr>
          <a:xfrm>
            <a:off x="548640" y="2103120"/>
            <a:ext cx="11064240" cy="96012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79576" y="2413903"/>
            <a:ext cx="9930384" cy="338554"/>
          </a:xfrm>
          <a:prstGeom prst="rect">
            <a:avLst/>
          </a:prstGeom>
          <a:noFill/>
        </p:spPr>
        <p:txBody>
          <a:bodyPr wrap="square">
            <a:spAutoFit/>
          </a:bodyPr>
          <a:lstStyle/>
          <a:p>
            <a:pPr>
              <a:defRPr sz="1600" b="1">
                <a:solidFill>
                  <a:srgbClr val="C0392B"/>
                </a:solidFill>
              </a:defRPr>
            </a:pPr>
            <a:r>
              <a:rPr dirty="0"/>
              <a:t>The stakes: in a legal judgment, one wrong number or name doesn't just read oddly — it can flip the outcome.</a:t>
            </a:r>
          </a:p>
        </p:txBody>
      </p:sp>
      <p:sp>
        <p:nvSpPr>
          <p:cNvPr id="8" name="Rounded Rectangle 7"/>
          <p:cNvSpPr/>
          <p:nvPr/>
        </p:nvSpPr>
        <p:spPr>
          <a:xfrm>
            <a:off x="548640" y="3200400"/>
            <a:ext cx="11064240" cy="128016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3455658"/>
            <a:ext cx="10607040" cy="1051560"/>
          </a:xfrm>
          <a:prstGeom prst="rect">
            <a:avLst/>
          </a:prstGeom>
          <a:noFill/>
        </p:spPr>
        <p:txBody>
          <a:bodyPr wrap="square">
            <a:spAutoFit/>
          </a:bodyPr>
          <a:lstStyle/>
          <a:p>
            <a:pPr>
              <a:defRPr sz="1300" b="1">
                <a:solidFill>
                  <a:srgbClr val="2E86C1"/>
                </a:solidFill>
              </a:defRPr>
            </a:pPr>
            <a:r>
              <a:rPr dirty="0"/>
              <a:t>So the question we ask today is:</a:t>
            </a:r>
          </a:p>
          <a:p>
            <a:pPr>
              <a:defRPr sz="1700" i="1">
                <a:solidFill>
                  <a:srgbClr val="1B2A4A"/>
                </a:solidFill>
              </a:defRPr>
            </a:pPr>
            <a:r>
              <a:rPr dirty="0"/>
              <a:t>"How do Zero-shot, Few-shot, and Structured </a:t>
            </a:r>
            <a:r>
              <a:rPr dirty="0" err="1"/>
              <a:t>CoT</a:t>
            </a:r>
            <a:r>
              <a:rPr dirty="0"/>
              <a:t> prompting strategies differ in English-to-Hindi legal summarization?"</a:t>
            </a:r>
          </a:p>
        </p:txBody>
      </p:sp>
      <p:sp>
        <p:nvSpPr>
          <p:cNvPr id="10" name="TextBox 9"/>
          <p:cNvSpPr txBox="1"/>
          <p:nvPr/>
        </p:nvSpPr>
        <p:spPr>
          <a:xfrm>
            <a:off x="548640" y="4709160"/>
            <a:ext cx="11064240" cy="325538"/>
          </a:xfrm>
          <a:prstGeom prst="rect">
            <a:avLst/>
          </a:prstGeom>
          <a:noFill/>
        </p:spPr>
        <p:txBody>
          <a:bodyPr wrap="square">
            <a:spAutoFit/>
          </a:bodyPr>
          <a:lstStyle/>
          <a:p>
            <a:pPr>
              <a:lnSpc>
                <a:spcPct val="115000"/>
              </a:lnSpc>
              <a:spcAft>
                <a:spcPts val="800"/>
              </a:spcAft>
              <a:defRPr sz="1400">
                <a:solidFill>
                  <a:srgbClr val="222222"/>
                </a:solidFill>
              </a:defRPr>
            </a:pPr>
            <a:r>
              <a:rPr dirty="0"/>
              <a:t>•  This is a controlled 10-case exploratory study </a:t>
            </a:r>
            <a:r>
              <a:rPr lang="en-IN" dirty="0"/>
              <a:t>;</a:t>
            </a:r>
            <a:r>
              <a:rPr dirty="0"/>
              <a:t> the goal is to find what the evidence shows, not to crown a winner in advance.</a:t>
            </a:r>
          </a:p>
        </p:txBody>
      </p:sp>
      <p:sp>
        <p:nvSpPr>
          <p:cNvPr id="11" name="Chevron 10"/>
          <p:cNvSpPr/>
          <p:nvPr/>
        </p:nvSpPr>
        <p:spPr>
          <a:xfrm>
            <a:off x="457200" y="6108192"/>
            <a:ext cx="274320" cy="329184"/>
          </a:xfrm>
          <a:prstGeom prst="chevron">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6089904"/>
            <a:ext cx="10607040" cy="384048"/>
          </a:xfrm>
          <a:prstGeom prst="rect">
            <a:avLst/>
          </a:prstGeom>
          <a:noFill/>
        </p:spPr>
        <p:txBody>
          <a:bodyPr wrap="square">
            <a:spAutoFit/>
          </a:bodyPr>
          <a:lstStyle/>
          <a:p>
            <a:pPr>
              <a:defRPr sz="1200" b="1" i="1">
                <a:solidFill>
                  <a:srgbClr val="2E86C1"/>
                </a:solidFill>
              </a:defRPr>
            </a:pPr>
            <a:r>
              <a:t>To answer this fairly, we first control the experiment so only the prompt changes...</a:t>
            </a:r>
          </a:p>
        </p:txBody>
      </p:sp>
      <p:sp>
        <p:nvSpPr>
          <p:cNvPr id="13" name="TextBox 12"/>
          <p:cNvSpPr txBox="1"/>
          <p:nvPr/>
        </p:nvSpPr>
        <p:spPr>
          <a:xfrm>
            <a:off x="457200" y="6547104"/>
            <a:ext cx="6319359"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1/1</a:t>
            </a:r>
            <a:r>
              <a:rPr lang="en-IN" dirty="0"/>
              <a:t>2</a:t>
            </a:r>
            <a:endParaRPr dirty="0"/>
          </a:p>
        </p:txBody>
      </p:sp>
      <p:sp>
        <p:nvSpPr>
          <p:cNvPr id="15" name="TextBox 14">
            <a:extLst>
              <a:ext uri="{FF2B5EF4-FFF2-40B4-BE49-F238E27FC236}">
                <a16:creationId xmlns:a16="http://schemas.microsoft.com/office/drawing/2014/main" id="{0715C076-D34C-9C22-DEB5-C71B894A080A}"/>
              </a:ext>
            </a:extLst>
          </p:cNvPr>
          <p:cNvSpPr txBox="1"/>
          <p:nvPr/>
        </p:nvSpPr>
        <p:spPr>
          <a:xfrm rot="10800000" flipV="1">
            <a:off x="7141464" y="5652198"/>
            <a:ext cx="4562856" cy="369332"/>
          </a:xfrm>
          <a:prstGeom prst="rect">
            <a:avLst/>
          </a:prstGeom>
          <a:noFill/>
        </p:spPr>
        <p:txBody>
          <a:bodyPr wrap="square" rtlCol="0">
            <a:spAutoFit/>
          </a:bodyPr>
          <a:lstStyle/>
          <a:p>
            <a:r>
              <a:rPr lang="en-IN" dirty="0">
                <a:latin typeface="Bookman Old Style" panose="02050604050505020204" pitchFamily="18" charset="0"/>
              </a:rPr>
              <a:t>Presentation by : Ankita Mishra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766560" y="347472"/>
            <a:ext cx="118872" cy="118872"/>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73952" y="484632"/>
            <a:ext cx="704088" cy="201168"/>
          </a:xfrm>
          <a:prstGeom prst="rect">
            <a:avLst/>
          </a:prstGeom>
          <a:noFill/>
        </p:spPr>
        <p:txBody>
          <a:bodyPr wrap="none">
            <a:spAutoFit/>
          </a:bodyPr>
          <a:lstStyle/>
          <a:p>
            <a:pPr algn="ctr">
              <a:defRPr sz="800" b="1">
                <a:solidFill>
                  <a:srgbClr val="2E86C1"/>
                </a:solidFill>
              </a:defRPr>
            </a:pPr>
            <a:r>
              <a:t>Setup</a:t>
            </a:r>
          </a:p>
        </p:txBody>
      </p:sp>
      <p:sp>
        <p:nvSpPr>
          <p:cNvPr id="5" name="Rectangle 4"/>
          <p:cNvSpPr/>
          <p:nvPr/>
        </p:nvSpPr>
        <p:spPr>
          <a:xfrm>
            <a:off x="6885432"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54112"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61504" y="484632"/>
            <a:ext cx="704088" cy="201168"/>
          </a:xfrm>
          <a:prstGeom prst="rect">
            <a:avLst/>
          </a:prstGeom>
          <a:noFill/>
        </p:spPr>
        <p:txBody>
          <a:bodyPr wrap="none">
            <a:spAutoFit/>
          </a:bodyPr>
          <a:lstStyle/>
          <a:p>
            <a:pPr algn="ctr">
              <a:defRPr sz="800" b="0">
                <a:solidFill>
                  <a:srgbClr val="5A5A5A"/>
                </a:solidFill>
              </a:defRPr>
            </a:pPr>
            <a:r>
              <a:t>Automatic</a:t>
            </a:r>
          </a:p>
        </p:txBody>
      </p:sp>
      <p:sp>
        <p:nvSpPr>
          <p:cNvPr id="8" name="Rectangle 7"/>
          <p:cNvSpPr/>
          <p:nvPr/>
        </p:nvSpPr>
        <p:spPr>
          <a:xfrm>
            <a:off x="7872984"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41664"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49056" y="484632"/>
            <a:ext cx="704088" cy="201168"/>
          </a:xfrm>
          <a:prstGeom prst="rect">
            <a:avLst/>
          </a:prstGeom>
          <a:noFill/>
        </p:spPr>
        <p:txBody>
          <a:bodyPr wrap="none">
            <a:spAutoFit/>
          </a:bodyPr>
          <a:lstStyle/>
          <a:p>
            <a:pPr algn="ctr">
              <a:defRPr sz="800" b="0">
                <a:solidFill>
                  <a:srgbClr val="5A5A5A"/>
                </a:solidFill>
              </a:defRPr>
            </a:pPr>
            <a:r>
              <a:t>Manual</a:t>
            </a:r>
          </a:p>
        </p:txBody>
      </p:sp>
      <p:sp>
        <p:nvSpPr>
          <p:cNvPr id="11" name="Rectangle 10"/>
          <p:cNvSpPr/>
          <p:nvPr/>
        </p:nvSpPr>
        <p:spPr>
          <a:xfrm>
            <a:off x="8860536"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729216"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36608" y="484632"/>
            <a:ext cx="704088" cy="201168"/>
          </a:xfrm>
          <a:prstGeom prst="rect">
            <a:avLst/>
          </a:prstGeom>
          <a:noFill/>
        </p:spPr>
        <p:txBody>
          <a:bodyPr wrap="none">
            <a:spAutoFit/>
          </a:bodyPr>
          <a:lstStyle/>
          <a:p>
            <a:pPr algn="ctr">
              <a:defRPr sz="800" b="0">
                <a:solidFill>
                  <a:srgbClr val="5A5A5A"/>
                </a:solidFill>
              </a:defRPr>
            </a:pPr>
            <a:r>
              <a:t>Cases</a:t>
            </a:r>
          </a:p>
        </p:txBody>
      </p:sp>
      <p:sp>
        <p:nvSpPr>
          <p:cNvPr id="14" name="Rectangle 13"/>
          <p:cNvSpPr/>
          <p:nvPr/>
        </p:nvSpPr>
        <p:spPr>
          <a:xfrm>
            <a:off x="9848088"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716768"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60" y="484632"/>
            <a:ext cx="704088" cy="201168"/>
          </a:xfrm>
          <a:prstGeom prst="rect">
            <a:avLst/>
          </a:prstGeom>
          <a:noFill/>
        </p:spPr>
        <p:txBody>
          <a:bodyPr wrap="none">
            <a:spAutoFit/>
          </a:bodyPr>
          <a:lstStyle/>
          <a:p>
            <a:pPr algn="ctr">
              <a:defRPr sz="800" b="0">
                <a:solidFill>
                  <a:srgbClr val="5A5A5A"/>
                </a:solidFill>
              </a:defRPr>
            </a:pPr>
            <a:r>
              <a:t>Verdict</a:t>
            </a:r>
          </a:p>
        </p:txBody>
      </p:sp>
      <p:sp>
        <p:nvSpPr>
          <p:cNvPr id="17" name="TextBox 16"/>
          <p:cNvSpPr txBox="1"/>
          <p:nvPr/>
        </p:nvSpPr>
        <p:spPr>
          <a:xfrm>
            <a:off x="457200" y="274320"/>
            <a:ext cx="11247120" cy="685800"/>
          </a:xfrm>
          <a:prstGeom prst="rect">
            <a:avLst/>
          </a:prstGeom>
          <a:noFill/>
        </p:spPr>
        <p:txBody>
          <a:bodyPr wrap="square">
            <a:spAutoFit/>
          </a:bodyPr>
          <a:lstStyle/>
          <a:p>
            <a:pPr>
              <a:defRPr sz="2600" b="1">
                <a:solidFill>
                  <a:srgbClr val="1B2A4A"/>
                </a:solidFill>
              </a:defRPr>
            </a:pPr>
            <a:r>
              <a:t>Dataset: MILDSum</a:t>
            </a:r>
          </a:p>
        </p:txBody>
      </p:sp>
      <p:sp>
        <p:nvSpPr>
          <p:cNvPr id="18" name="TextBox 17"/>
          <p:cNvSpPr txBox="1"/>
          <p:nvPr/>
        </p:nvSpPr>
        <p:spPr>
          <a:xfrm>
            <a:off x="457200" y="749808"/>
            <a:ext cx="11247120" cy="320040"/>
          </a:xfrm>
          <a:prstGeom prst="rect">
            <a:avLst/>
          </a:prstGeom>
          <a:noFill/>
        </p:spPr>
        <p:txBody>
          <a:bodyPr wrap="square">
            <a:spAutoFit/>
          </a:bodyPr>
          <a:lstStyle/>
          <a:p>
            <a:pPr>
              <a:defRPr sz="1300" i="1">
                <a:solidFill>
                  <a:srgbClr val="5A5A5A"/>
                </a:solidFill>
              </a:defRPr>
            </a:pPr>
            <a:r>
              <a:t>10 Indian legal judgments where these stakes are real</a:t>
            </a:r>
          </a:p>
        </p:txBody>
      </p:sp>
      <p:sp>
        <p:nvSpPr>
          <p:cNvPr id="19" name="TextBox 18"/>
          <p:cNvSpPr txBox="1"/>
          <p:nvPr/>
        </p:nvSpPr>
        <p:spPr>
          <a:xfrm>
            <a:off x="548640" y="1600200"/>
            <a:ext cx="5760720" cy="2222468"/>
          </a:xfrm>
          <a:prstGeom prst="rect">
            <a:avLst/>
          </a:prstGeom>
          <a:noFill/>
        </p:spPr>
        <p:txBody>
          <a:bodyPr wrap="square">
            <a:spAutoFit/>
          </a:bodyPr>
          <a:lstStyle/>
          <a:p>
            <a:pPr>
              <a:lnSpc>
                <a:spcPct val="115000"/>
              </a:lnSpc>
              <a:spcAft>
                <a:spcPts val="800"/>
              </a:spcAft>
              <a:defRPr sz="1400">
                <a:solidFill>
                  <a:srgbClr val="222222"/>
                </a:solidFill>
              </a:defRPr>
            </a:pPr>
            <a:r>
              <a:rPr dirty="0"/>
              <a:t>•  </a:t>
            </a:r>
            <a:r>
              <a:rPr dirty="0" err="1"/>
              <a:t>MILDSum</a:t>
            </a:r>
            <a:r>
              <a:rPr dirty="0"/>
              <a:t> (Law-AI) — English-Hindi Indian court judgment/summary pairs.</a:t>
            </a:r>
          </a:p>
          <a:p>
            <a:pPr>
              <a:lnSpc>
                <a:spcPct val="115000"/>
              </a:lnSpc>
              <a:spcAft>
                <a:spcPts val="800"/>
              </a:spcAft>
              <a:defRPr sz="1400">
                <a:solidFill>
                  <a:srgbClr val="222222"/>
                </a:solidFill>
              </a:defRPr>
            </a:pPr>
            <a:r>
              <a:rPr dirty="0"/>
              <a:t>•  Used all 10 available samples for this exploratory pilot.</a:t>
            </a:r>
          </a:p>
          <a:p>
            <a:pPr>
              <a:lnSpc>
                <a:spcPct val="115000"/>
              </a:lnSpc>
              <a:spcAft>
                <a:spcPts val="800"/>
              </a:spcAft>
              <a:defRPr sz="1400">
                <a:solidFill>
                  <a:srgbClr val="222222"/>
                </a:solidFill>
              </a:defRPr>
            </a:pPr>
            <a:r>
              <a:rPr dirty="0"/>
              <a:t>•  Each sample: EN_Judgment.txt (input) + HI_Summary.txt (reference for scoring).</a:t>
            </a:r>
          </a:p>
          <a:p>
            <a:pPr>
              <a:lnSpc>
                <a:spcPct val="115000"/>
              </a:lnSpc>
              <a:spcAft>
                <a:spcPts val="800"/>
              </a:spcAft>
              <a:defRPr sz="1400">
                <a:solidFill>
                  <a:srgbClr val="222222"/>
                </a:solidFill>
              </a:defRPr>
            </a:pPr>
            <a:r>
              <a:rPr dirty="0"/>
              <a:t>•  EN_Summary.txt exists but is NOT used </a:t>
            </a:r>
            <a:r>
              <a:rPr lang="en-IN" dirty="0"/>
              <a:t>;</a:t>
            </a:r>
            <a:r>
              <a:rPr dirty="0"/>
              <a:t> task is strictly English → Hindi.</a:t>
            </a:r>
          </a:p>
          <a:p>
            <a:pPr>
              <a:lnSpc>
                <a:spcPct val="115000"/>
              </a:lnSpc>
              <a:spcAft>
                <a:spcPts val="800"/>
              </a:spcAft>
              <a:defRPr sz="1400">
                <a:solidFill>
                  <a:srgbClr val="222222"/>
                </a:solidFill>
              </a:defRPr>
            </a:pPr>
            <a:r>
              <a:rPr dirty="0"/>
              <a:t>•  Domain mix spans the kind of high-stakes facts described above: bail terms, drug quantities, reimbursement amounts, government identity.</a:t>
            </a:r>
          </a:p>
        </p:txBody>
      </p:sp>
      <p:graphicFrame>
        <p:nvGraphicFramePr>
          <p:cNvPr id="20" name="Table 19"/>
          <p:cNvGraphicFramePr>
            <a:graphicFrameLocks noGrp="1"/>
          </p:cNvGraphicFramePr>
          <p:nvPr/>
        </p:nvGraphicFramePr>
        <p:xfrm>
          <a:off x="6766560" y="1737360"/>
          <a:ext cx="4663440" cy="320040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533400">
                <a:tc>
                  <a:txBody>
                    <a:bodyPr/>
                    <a:lstStyle/>
                    <a:p>
                      <a:pPr>
                        <a:defRPr sz="1200" b="1">
                          <a:solidFill>
                            <a:srgbClr val="FFFFFF"/>
                          </a:solidFill>
                        </a:defRPr>
                      </a:pPr>
                      <a:r>
                        <a:t>Sample</a:t>
                      </a:r>
                    </a:p>
                  </a:txBody>
                  <a:tcPr>
                    <a:solidFill>
                      <a:srgbClr val="1B2A4A"/>
                    </a:solidFill>
                  </a:tcPr>
                </a:tc>
                <a:tc>
                  <a:txBody>
                    <a:bodyPr/>
                    <a:lstStyle/>
                    <a:p>
                      <a:pPr>
                        <a:defRPr sz="1200" b="1">
                          <a:solidFill>
                            <a:srgbClr val="FFFFFF"/>
                          </a:solidFill>
                        </a:defRPr>
                      </a:pPr>
                      <a:r>
                        <a:rPr dirty="0"/>
                        <a:t>Legal domain</a:t>
                      </a:r>
                    </a:p>
                  </a:txBody>
                  <a:tcPr>
                    <a:solidFill>
                      <a:srgbClr val="1B2A4A"/>
                    </a:solidFill>
                  </a:tcPr>
                </a:tc>
                <a:extLst>
                  <a:ext uri="{0D108BD9-81ED-4DB2-BD59-A6C34878D82A}">
                    <a16:rowId xmlns:a16="http://schemas.microsoft.com/office/drawing/2014/main" val="10000"/>
                  </a:ext>
                </a:extLst>
              </a:tr>
              <a:tr h="533400">
                <a:tc>
                  <a:txBody>
                    <a:bodyPr/>
                    <a:lstStyle/>
                    <a:p>
                      <a:pPr>
                        <a:defRPr sz="1200"/>
                      </a:pPr>
                      <a:r>
                        <a:t>S1</a:t>
                      </a:r>
                    </a:p>
                  </a:txBody>
                  <a:tcPr>
                    <a:solidFill>
                      <a:srgbClr val="FFFFFF"/>
                    </a:solidFill>
                  </a:tcPr>
                </a:tc>
                <a:tc>
                  <a:txBody>
                    <a:bodyPr/>
                    <a:lstStyle/>
                    <a:p>
                      <a:pPr>
                        <a:defRPr sz="1200"/>
                      </a:pPr>
                      <a:r>
                        <a:t>COVID hospital reimbursement</a:t>
                      </a:r>
                    </a:p>
                  </a:txBody>
                  <a:tcPr>
                    <a:solidFill>
                      <a:srgbClr val="FFFFFF"/>
                    </a:solidFill>
                  </a:tcPr>
                </a:tc>
                <a:extLst>
                  <a:ext uri="{0D108BD9-81ED-4DB2-BD59-A6C34878D82A}">
                    <a16:rowId xmlns:a16="http://schemas.microsoft.com/office/drawing/2014/main" val="10001"/>
                  </a:ext>
                </a:extLst>
              </a:tr>
              <a:tr h="533400">
                <a:tc>
                  <a:txBody>
                    <a:bodyPr/>
                    <a:lstStyle/>
                    <a:p>
                      <a:pPr>
                        <a:defRPr sz="1200"/>
                      </a:pPr>
                      <a:r>
                        <a:t>S5</a:t>
                      </a:r>
                    </a:p>
                  </a:txBody>
                  <a:tcPr>
                    <a:solidFill>
                      <a:srgbClr val="FFFFFF"/>
                    </a:solidFill>
                  </a:tcPr>
                </a:tc>
                <a:tc>
                  <a:txBody>
                    <a:bodyPr/>
                    <a:lstStyle/>
                    <a:p>
                      <a:pPr>
                        <a:defRPr sz="1200"/>
                      </a:pPr>
                      <a:r>
                        <a:t>Bail (Few-shot generation failed)</a:t>
                      </a:r>
                    </a:p>
                  </a:txBody>
                  <a:tcPr>
                    <a:solidFill>
                      <a:srgbClr val="FFFFFF"/>
                    </a:solidFill>
                  </a:tcPr>
                </a:tc>
                <a:extLst>
                  <a:ext uri="{0D108BD9-81ED-4DB2-BD59-A6C34878D82A}">
                    <a16:rowId xmlns:a16="http://schemas.microsoft.com/office/drawing/2014/main" val="10002"/>
                  </a:ext>
                </a:extLst>
              </a:tr>
              <a:tr h="533400">
                <a:tc>
                  <a:txBody>
                    <a:bodyPr/>
                    <a:lstStyle/>
                    <a:p>
                      <a:pPr>
                        <a:defRPr sz="1200"/>
                      </a:pPr>
                      <a:r>
                        <a:t>S7</a:t>
                      </a:r>
                    </a:p>
                  </a:txBody>
                  <a:tcPr>
                    <a:solidFill>
                      <a:srgbClr val="FFFFFF"/>
                    </a:solidFill>
                  </a:tcPr>
                </a:tc>
                <a:tc>
                  <a:txBody>
                    <a:bodyPr/>
                    <a:lstStyle/>
                    <a:p>
                      <a:pPr>
                        <a:defRPr sz="1200"/>
                      </a:pPr>
                      <a:r>
                        <a:t>Anticipatory bail, repeat filing</a:t>
                      </a:r>
                    </a:p>
                  </a:txBody>
                  <a:tcPr>
                    <a:solidFill>
                      <a:srgbClr val="FFFFFF"/>
                    </a:solidFill>
                  </a:tcPr>
                </a:tc>
                <a:extLst>
                  <a:ext uri="{0D108BD9-81ED-4DB2-BD59-A6C34878D82A}">
                    <a16:rowId xmlns:a16="http://schemas.microsoft.com/office/drawing/2014/main" val="10003"/>
                  </a:ext>
                </a:extLst>
              </a:tr>
              <a:tr h="533400">
                <a:tc>
                  <a:txBody>
                    <a:bodyPr/>
                    <a:lstStyle/>
                    <a:p>
                      <a:pPr>
                        <a:defRPr sz="1200"/>
                      </a:pPr>
                      <a:r>
                        <a:t>S8</a:t>
                      </a:r>
                    </a:p>
                  </a:txBody>
                  <a:tcPr>
                    <a:solidFill>
                      <a:srgbClr val="FFFFFF"/>
                    </a:solidFill>
                  </a:tcPr>
                </a:tc>
                <a:tc>
                  <a:txBody>
                    <a:bodyPr/>
                    <a:lstStyle/>
                    <a:p>
                      <a:pPr>
                        <a:defRPr sz="1200"/>
                      </a:pPr>
                      <a:r>
                        <a:t>NDPS Act — drug quantity, bail</a:t>
                      </a:r>
                    </a:p>
                  </a:txBody>
                  <a:tcPr>
                    <a:solidFill>
                      <a:srgbClr val="FFFFFF"/>
                    </a:solidFill>
                  </a:tcPr>
                </a:tc>
                <a:extLst>
                  <a:ext uri="{0D108BD9-81ED-4DB2-BD59-A6C34878D82A}">
                    <a16:rowId xmlns:a16="http://schemas.microsoft.com/office/drawing/2014/main" val="10004"/>
                  </a:ext>
                </a:extLst>
              </a:tr>
              <a:tr h="533400">
                <a:tc>
                  <a:txBody>
                    <a:bodyPr/>
                    <a:lstStyle/>
                    <a:p>
                      <a:pPr>
                        <a:defRPr sz="1200"/>
                      </a:pPr>
                      <a:r>
                        <a:t>S9</a:t>
                      </a:r>
                    </a:p>
                  </a:txBody>
                  <a:tcPr>
                    <a:solidFill>
                      <a:srgbClr val="FFFFFF"/>
                    </a:solidFill>
                  </a:tcPr>
                </a:tc>
                <a:tc>
                  <a:txBody>
                    <a:bodyPr/>
                    <a:lstStyle/>
                    <a:p>
                      <a:pPr>
                        <a:defRPr sz="1200"/>
                      </a:pPr>
                      <a:r>
                        <a:rPr dirty="0"/>
                        <a:t>Family court judge conduct/bias</a:t>
                      </a:r>
                    </a:p>
                  </a:txBody>
                  <a:tcPr>
                    <a:solidFill>
                      <a:srgbClr val="FFFFFF"/>
                    </a:solidFill>
                  </a:tcPr>
                </a:tc>
                <a:extLst>
                  <a:ext uri="{0D108BD9-81ED-4DB2-BD59-A6C34878D82A}">
                    <a16:rowId xmlns:a16="http://schemas.microsoft.com/office/drawing/2014/main" val="10005"/>
                  </a:ext>
                </a:extLst>
              </a:tr>
            </a:tbl>
          </a:graphicData>
        </a:graphic>
      </p:graphicFrame>
      <p:sp>
        <p:nvSpPr>
          <p:cNvPr id="21" name="TextBox 20"/>
          <p:cNvSpPr txBox="1"/>
          <p:nvPr/>
        </p:nvSpPr>
        <p:spPr>
          <a:xfrm>
            <a:off x="548640" y="5394960"/>
            <a:ext cx="7598490" cy="276999"/>
          </a:xfrm>
          <a:prstGeom prst="rect">
            <a:avLst/>
          </a:prstGeom>
          <a:noFill/>
        </p:spPr>
        <p:txBody>
          <a:bodyPr wrap="none">
            <a:spAutoFit/>
          </a:bodyPr>
          <a:lstStyle/>
          <a:p>
            <a:pPr>
              <a:defRPr sz="1200" i="1">
                <a:solidFill>
                  <a:srgbClr val="5A5A5A"/>
                </a:solidFill>
              </a:defRPr>
            </a:pPr>
            <a:r>
              <a:rPr dirty="0"/>
              <a:t>With only 10 cases, every result ahead should be read as exploratory evidence not a statistically powered benchmark.</a:t>
            </a:r>
          </a:p>
        </p:txBody>
      </p:sp>
      <p:sp>
        <p:nvSpPr>
          <p:cNvPr id="22" name="Chevron 21"/>
          <p:cNvSpPr/>
          <p:nvPr/>
        </p:nvSpPr>
        <p:spPr>
          <a:xfrm>
            <a:off x="457200" y="6108192"/>
            <a:ext cx="274320" cy="329184"/>
          </a:xfrm>
          <a:prstGeom prst="chevron">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 y="6089904"/>
            <a:ext cx="10607040" cy="384048"/>
          </a:xfrm>
          <a:prstGeom prst="rect">
            <a:avLst/>
          </a:prstGeom>
          <a:noFill/>
        </p:spPr>
        <p:txBody>
          <a:bodyPr wrap="square">
            <a:spAutoFit/>
          </a:bodyPr>
          <a:lstStyle/>
          <a:p>
            <a:pPr>
              <a:defRPr sz="1200" b="1" i="1">
                <a:solidFill>
                  <a:srgbClr val="2E86C1"/>
                </a:solidFill>
              </a:defRPr>
            </a:pPr>
            <a:r>
              <a:t>With the same 10 judgments fixed, next we fix the model and setup too...</a:t>
            </a:r>
          </a:p>
        </p:txBody>
      </p:sp>
      <p:sp>
        <p:nvSpPr>
          <p:cNvPr id="24" name="TextBox 23"/>
          <p:cNvSpPr txBox="1"/>
          <p:nvPr/>
        </p:nvSpPr>
        <p:spPr>
          <a:xfrm>
            <a:off x="457200" y="6547104"/>
            <a:ext cx="6319359"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2/1</a:t>
            </a:r>
            <a:r>
              <a:rPr lang="en-IN" dirty="0"/>
              <a:t>2</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766560" y="347472"/>
            <a:ext cx="118872" cy="118872"/>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73952" y="484632"/>
            <a:ext cx="704088" cy="201168"/>
          </a:xfrm>
          <a:prstGeom prst="rect">
            <a:avLst/>
          </a:prstGeom>
          <a:noFill/>
        </p:spPr>
        <p:txBody>
          <a:bodyPr wrap="none">
            <a:spAutoFit/>
          </a:bodyPr>
          <a:lstStyle/>
          <a:p>
            <a:pPr algn="ctr">
              <a:defRPr sz="800" b="1">
                <a:solidFill>
                  <a:srgbClr val="2E86C1"/>
                </a:solidFill>
              </a:defRPr>
            </a:pPr>
            <a:r>
              <a:t>Setup</a:t>
            </a:r>
          </a:p>
        </p:txBody>
      </p:sp>
      <p:sp>
        <p:nvSpPr>
          <p:cNvPr id="5" name="Rectangle 4"/>
          <p:cNvSpPr/>
          <p:nvPr/>
        </p:nvSpPr>
        <p:spPr>
          <a:xfrm>
            <a:off x="6885432"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54112"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61504" y="484632"/>
            <a:ext cx="704088" cy="201168"/>
          </a:xfrm>
          <a:prstGeom prst="rect">
            <a:avLst/>
          </a:prstGeom>
          <a:noFill/>
        </p:spPr>
        <p:txBody>
          <a:bodyPr wrap="none">
            <a:spAutoFit/>
          </a:bodyPr>
          <a:lstStyle/>
          <a:p>
            <a:pPr algn="ctr">
              <a:defRPr sz="800" b="0">
                <a:solidFill>
                  <a:srgbClr val="5A5A5A"/>
                </a:solidFill>
              </a:defRPr>
            </a:pPr>
            <a:r>
              <a:t>Automatic</a:t>
            </a:r>
          </a:p>
        </p:txBody>
      </p:sp>
      <p:sp>
        <p:nvSpPr>
          <p:cNvPr id="8" name="Rectangle 7"/>
          <p:cNvSpPr/>
          <p:nvPr/>
        </p:nvSpPr>
        <p:spPr>
          <a:xfrm>
            <a:off x="7872984"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41664"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49056" y="484632"/>
            <a:ext cx="704088" cy="201168"/>
          </a:xfrm>
          <a:prstGeom prst="rect">
            <a:avLst/>
          </a:prstGeom>
          <a:noFill/>
        </p:spPr>
        <p:txBody>
          <a:bodyPr wrap="none">
            <a:spAutoFit/>
          </a:bodyPr>
          <a:lstStyle/>
          <a:p>
            <a:pPr algn="ctr">
              <a:defRPr sz="800" b="0">
                <a:solidFill>
                  <a:srgbClr val="5A5A5A"/>
                </a:solidFill>
              </a:defRPr>
            </a:pPr>
            <a:r>
              <a:t>Manual</a:t>
            </a:r>
          </a:p>
        </p:txBody>
      </p:sp>
      <p:sp>
        <p:nvSpPr>
          <p:cNvPr id="11" name="Rectangle 10"/>
          <p:cNvSpPr/>
          <p:nvPr/>
        </p:nvSpPr>
        <p:spPr>
          <a:xfrm>
            <a:off x="8860536"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729216"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36608" y="484632"/>
            <a:ext cx="704088" cy="201168"/>
          </a:xfrm>
          <a:prstGeom prst="rect">
            <a:avLst/>
          </a:prstGeom>
          <a:noFill/>
        </p:spPr>
        <p:txBody>
          <a:bodyPr wrap="none">
            <a:spAutoFit/>
          </a:bodyPr>
          <a:lstStyle/>
          <a:p>
            <a:pPr algn="ctr">
              <a:defRPr sz="800" b="0">
                <a:solidFill>
                  <a:srgbClr val="5A5A5A"/>
                </a:solidFill>
              </a:defRPr>
            </a:pPr>
            <a:r>
              <a:t>Cases</a:t>
            </a:r>
          </a:p>
        </p:txBody>
      </p:sp>
      <p:sp>
        <p:nvSpPr>
          <p:cNvPr id="14" name="Rectangle 13"/>
          <p:cNvSpPr/>
          <p:nvPr/>
        </p:nvSpPr>
        <p:spPr>
          <a:xfrm>
            <a:off x="9848088"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716768"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60" y="484632"/>
            <a:ext cx="704088" cy="201168"/>
          </a:xfrm>
          <a:prstGeom prst="rect">
            <a:avLst/>
          </a:prstGeom>
          <a:noFill/>
        </p:spPr>
        <p:txBody>
          <a:bodyPr wrap="none">
            <a:spAutoFit/>
          </a:bodyPr>
          <a:lstStyle/>
          <a:p>
            <a:pPr algn="ctr">
              <a:defRPr sz="800" b="0">
                <a:solidFill>
                  <a:srgbClr val="5A5A5A"/>
                </a:solidFill>
              </a:defRPr>
            </a:pPr>
            <a:r>
              <a:t>Verdict</a:t>
            </a:r>
          </a:p>
        </p:txBody>
      </p:sp>
      <p:sp>
        <p:nvSpPr>
          <p:cNvPr id="17" name="TextBox 16"/>
          <p:cNvSpPr txBox="1"/>
          <p:nvPr/>
        </p:nvSpPr>
        <p:spPr>
          <a:xfrm>
            <a:off x="457200" y="274320"/>
            <a:ext cx="11247120" cy="685800"/>
          </a:xfrm>
          <a:prstGeom prst="rect">
            <a:avLst/>
          </a:prstGeom>
          <a:noFill/>
        </p:spPr>
        <p:txBody>
          <a:bodyPr wrap="square">
            <a:spAutoFit/>
          </a:bodyPr>
          <a:lstStyle/>
          <a:p>
            <a:pPr>
              <a:defRPr sz="2600" b="1">
                <a:solidFill>
                  <a:srgbClr val="1B2A4A"/>
                </a:solidFill>
              </a:defRPr>
            </a:pPr>
            <a:r>
              <a:t>Model &amp; Experimental Setup</a:t>
            </a:r>
          </a:p>
        </p:txBody>
      </p:sp>
      <p:sp>
        <p:nvSpPr>
          <p:cNvPr id="18" name="TextBox 17"/>
          <p:cNvSpPr txBox="1"/>
          <p:nvPr/>
        </p:nvSpPr>
        <p:spPr>
          <a:xfrm>
            <a:off x="457200" y="749808"/>
            <a:ext cx="11247120" cy="320040"/>
          </a:xfrm>
          <a:prstGeom prst="rect">
            <a:avLst/>
          </a:prstGeom>
          <a:noFill/>
        </p:spPr>
        <p:txBody>
          <a:bodyPr wrap="square">
            <a:spAutoFit/>
          </a:bodyPr>
          <a:lstStyle/>
          <a:p>
            <a:pPr>
              <a:defRPr sz="1300" i="1">
                <a:solidFill>
                  <a:srgbClr val="5A5A5A"/>
                </a:solidFill>
              </a:defRPr>
            </a:pPr>
            <a:r>
              <a:t>Holding everything constant except the one variable we care about</a:t>
            </a:r>
          </a:p>
        </p:txBody>
      </p:sp>
      <p:sp>
        <p:nvSpPr>
          <p:cNvPr id="19" name="Rounded Rectangle 18"/>
          <p:cNvSpPr/>
          <p:nvPr/>
        </p:nvSpPr>
        <p:spPr>
          <a:xfrm>
            <a:off x="548640" y="1645920"/>
            <a:ext cx="2651760" cy="9144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1719072"/>
            <a:ext cx="2651760" cy="768096"/>
          </a:xfrm>
          <a:prstGeom prst="rect">
            <a:avLst/>
          </a:prstGeom>
          <a:noFill/>
        </p:spPr>
        <p:txBody>
          <a:bodyPr wrap="square" anchor="ctr">
            <a:spAutoFit/>
          </a:bodyPr>
          <a:lstStyle/>
          <a:p>
            <a:pPr algn="ctr">
              <a:defRPr sz="2000" b="1">
                <a:solidFill>
                  <a:srgbClr val="1B2A4A"/>
                </a:solidFill>
              </a:defRPr>
            </a:pPr>
            <a:r>
              <a:t>Qwen 3.5 4B</a:t>
            </a:r>
          </a:p>
          <a:p>
            <a:pPr algn="ctr">
              <a:defRPr sz="1100">
                <a:solidFill>
                  <a:srgbClr val="5A5A5A"/>
                </a:solidFill>
              </a:defRPr>
            </a:pPr>
            <a:r>
              <a:t>Model (fixed)</a:t>
            </a:r>
          </a:p>
        </p:txBody>
      </p:sp>
      <p:sp>
        <p:nvSpPr>
          <p:cNvPr id="21" name="Rounded Rectangle 20"/>
          <p:cNvSpPr/>
          <p:nvPr/>
        </p:nvSpPr>
        <p:spPr>
          <a:xfrm>
            <a:off x="3337560" y="1645920"/>
            <a:ext cx="2651760" cy="9144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37560" y="1719072"/>
            <a:ext cx="2651760" cy="768096"/>
          </a:xfrm>
          <a:prstGeom prst="rect">
            <a:avLst/>
          </a:prstGeom>
          <a:noFill/>
        </p:spPr>
        <p:txBody>
          <a:bodyPr wrap="square" anchor="ctr">
            <a:spAutoFit/>
          </a:bodyPr>
          <a:lstStyle/>
          <a:p>
            <a:pPr algn="ctr">
              <a:defRPr sz="2000" b="1">
                <a:solidFill>
                  <a:srgbClr val="1B2A4A"/>
                </a:solidFill>
              </a:defRPr>
            </a:pPr>
            <a:r>
              <a:t>Seed = 42</a:t>
            </a:r>
          </a:p>
          <a:p>
            <a:pPr algn="ctr">
              <a:defRPr sz="1100">
                <a:solidFill>
                  <a:srgbClr val="5A5A5A"/>
                </a:solidFill>
              </a:defRPr>
            </a:pPr>
            <a:r>
              <a:t>Deterministic generation</a:t>
            </a:r>
          </a:p>
        </p:txBody>
      </p:sp>
      <p:sp>
        <p:nvSpPr>
          <p:cNvPr id="23" name="Rounded Rectangle 22"/>
          <p:cNvSpPr/>
          <p:nvPr/>
        </p:nvSpPr>
        <p:spPr>
          <a:xfrm>
            <a:off x="6126479" y="1645920"/>
            <a:ext cx="2651760" cy="9144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6479" y="1719072"/>
            <a:ext cx="2651760" cy="768096"/>
          </a:xfrm>
          <a:prstGeom prst="rect">
            <a:avLst/>
          </a:prstGeom>
          <a:noFill/>
        </p:spPr>
        <p:txBody>
          <a:bodyPr wrap="square" anchor="ctr">
            <a:spAutoFit/>
          </a:bodyPr>
          <a:lstStyle/>
          <a:p>
            <a:pPr algn="ctr">
              <a:defRPr sz="2000" b="1">
                <a:solidFill>
                  <a:srgbClr val="1B2A4A"/>
                </a:solidFill>
              </a:defRPr>
            </a:pPr>
            <a:r>
              <a:t>4-bit NF4</a:t>
            </a:r>
          </a:p>
          <a:p>
            <a:pPr algn="ctr">
              <a:defRPr sz="1100">
                <a:solidFill>
                  <a:srgbClr val="5A5A5A"/>
                </a:solidFill>
              </a:defRPr>
            </a:pPr>
            <a:r>
              <a:t>Quantization (fixed)</a:t>
            </a:r>
          </a:p>
        </p:txBody>
      </p:sp>
      <p:sp>
        <p:nvSpPr>
          <p:cNvPr id="25" name="Rounded Rectangle 24"/>
          <p:cNvSpPr/>
          <p:nvPr/>
        </p:nvSpPr>
        <p:spPr>
          <a:xfrm>
            <a:off x="8915399" y="1645920"/>
            <a:ext cx="2651760" cy="9144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15399" y="1719072"/>
            <a:ext cx="2651760" cy="768096"/>
          </a:xfrm>
          <a:prstGeom prst="rect">
            <a:avLst/>
          </a:prstGeom>
          <a:noFill/>
        </p:spPr>
        <p:txBody>
          <a:bodyPr wrap="square" anchor="ctr">
            <a:spAutoFit/>
          </a:bodyPr>
          <a:lstStyle/>
          <a:p>
            <a:pPr algn="ctr">
              <a:defRPr sz="2000" b="1">
                <a:solidFill>
                  <a:srgbClr val="1B2A4A"/>
                </a:solidFill>
              </a:defRPr>
            </a:pPr>
            <a:r>
              <a:t>10 cases</a:t>
            </a:r>
          </a:p>
          <a:p>
            <a:pPr algn="ctr">
              <a:defRPr sz="1100">
                <a:solidFill>
                  <a:srgbClr val="5A5A5A"/>
                </a:solidFill>
              </a:defRPr>
            </a:pPr>
            <a:r>
              <a:t>Same set, all methods</a:t>
            </a:r>
          </a:p>
        </p:txBody>
      </p:sp>
      <p:sp>
        <p:nvSpPr>
          <p:cNvPr id="27" name="Rounded Rectangle 26"/>
          <p:cNvSpPr/>
          <p:nvPr/>
        </p:nvSpPr>
        <p:spPr>
          <a:xfrm>
            <a:off x="548640" y="2834640"/>
            <a:ext cx="11064240" cy="822960"/>
          </a:xfrm>
          <a:prstGeom prst="roundRect">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19" y="3072384"/>
            <a:ext cx="10607040" cy="323165"/>
          </a:xfrm>
          <a:prstGeom prst="rect">
            <a:avLst/>
          </a:prstGeom>
          <a:noFill/>
        </p:spPr>
        <p:txBody>
          <a:bodyPr wrap="square">
            <a:spAutoFit/>
          </a:bodyPr>
          <a:lstStyle/>
          <a:p>
            <a:pPr>
              <a:defRPr sz="1500" b="1">
                <a:solidFill>
                  <a:srgbClr val="1B2A4A"/>
                </a:solidFill>
              </a:defRPr>
            </a:pPr>
            <a:r>
              <a:rPr dirty="0"/>
              <a:t>Independent variable: Prompting strategy (Zero-shot / Few-shot / Structured </a:t>
            </a:r>
            <a:r>
              <a:rPr dirty="0" err="1"/>
              <a:t>CoT</a:t>
            </a:r>
            <a:r>
              <a:rPr dirty="0"/>
              <a:t>) </a:t>
            </a:r>
            <a:r>
              <a:rPr lang="en-IN" dirty="0"/>
              <a:t>,</a:t>
            </a:r>
            <a:r>
              <a:rPr dirty="0"/>
              <a:t> everything else held constant.</a:t>
            </a:r>
          </a:p>
        </p:txBody>
      </p:sp>
      <p:sp>
        <p:nvSpPr>
          <p:cNvPr id="29" name="TextBox 28"/>
          <p:cNvSpPr txBox="1"/>
          <p:nvPr/>
        </p:nvSpPr>
        <p:spPr>
          <a:xfrm>
            <a:off x="548640" y="3794760"/>
            <a:ext cx="11064240" cy="1274003"/>
          </a:xfrm>
          <a:prstGeom prst="rect">
            <a:avLst/>
          </a:prstGeom>
          <a:noFill/>
        </p:spPr>
        <p:txBody>
          <a:bodyPr wrap="square">
            <a:spAutoFit/>
          </a:bodyPr>
          <a:lstStyle/>
          <a:p>
            <a:pPr>
              <a:lnSpc>
                <a:spcPct val="115000"/>
              </a:lnSpc>
              <a:spcAft>
                <a:spcPts val="800"/>
              </a:spcAft>
              <a:defRPr sz="1400">
                <a:solidFill>
                  <a:srgbClr val="222222"/>
                </a:solidFill>
              </a:defRPr>
            </a:pPr>
            <a:r>
              <a:rPr dirty="0"/>
              <a:t>•  Holding the model, seed, and quantization constant isolates prompting strategy as the sole source of output difference.</a:t>
            </a:r>
          </a:p>
          <a:p>
            <a:pPr>
              <a:lnSpc>
                <a:spcPct val="115000"/>
              </a:lnSpc>
              <a:spcAft>
                <a:spcPts val="800"/>
              </a:spcAft>
              <a:defRPr sz="1400">
                <a:solidFill>
                  <a:srgbClr val="222222"/>
                </a:solidFill>
              </a:defRPr>
            </a:pPr>
            <a:r>
              <a:rPr dirty="0"/>
              <a:t>•  Evaluation combines automatic metrics (ROUGE-1/2/L, BERTScore-F1) with manual scoring on 5 criteria (1-5 scale).</a:t>
            </a:r>
          </a:p>
          <a:p>
            <a:pPr>
              <a:lnSpc>
                <a:spcPct val="115000"/>
              </a:lnSpc>
              <a:spcAft>
                <a:spcPts val="800"/>
              </a:spcAft>
              <a:defRPr sz="1400">
                <a:solidFill>
                  <a:srgbClr val="222222"/>
                </a:solidFill>
              </a:defRPr>
            </a:pPr>
            <a:r>
              <a:rPr dirty="0"/>
              <a:t>•  One generation failure occurred (Sample 5, Few-shot) </a:t>
            </a:r>
            <a:r>
              <a:rPr lang="en-IN" dirty="0"/>
              <a:t>therefore it is </a:t>
            </a:r>
            <a:r>
              <a:rPr dirty="0"/>
              <a:t>treated as N/A, excluded from Few-shot averages; error rates for Few-shot are computed over 9 valid outputs (n=9), not 10.</a:t>
            </a:r>
          </a:p>
        </p:txBody>
      </p:sp>
      <p:sp>
        <p:nvSpPr>
          <p:cNvPr id="30" name="Chevron 29"/>
          <p:cNvSpPr/>
          <p:nvPr/>
        </p:nvSpPr>
        <p:spPr>
          <a:xfrm>
            <a:off x="457200" y="6108192"/>
            <a:ext cx="274320" cy="329184"/>
          </a:xfrm>
          <a:prstGeom prst="chevron">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 y="6089904"/>
            <a:ext cx="10607040" cy="384048"/>
          </a:xfrm>
          <a:prstGeom prst="rect">
            <a:avLst/>
          </a:prstGeom>
          <a:noFill/>
        </p:spPr>
        <p:txBody>
          <a:bodyPr wrap="square">
            <a:spAutoFit/>
          </a:bodyPr>
          <a:lstStyle/>
          <a:p>
            <a:pPr>
              <a:defRPr sz="1200" b="1" i="1">
                <a:solidFill>
                  <a:srgbClr val="2E86C1"/>
                </a:solidFill>
              </a:defRPr>
            </a:pPr>
            <a:r>
              <a:t>Setup fixed. Now the one thing that varies: the prompt itself...</a:t>
            </a:r>
          </a:p>
        </p:txBody>
      </p:sp>
      <p:sp>
        <p:nvSpPr>
          <p:cNvPr id="32" name="TextBox 31"/>
          <p:cNvSpPr txBox="1"/>
          <p:nvPr/>
        </p:nvSpPr>
        <p:spPr>
          <a:xfrm>
            <a:off x="457200" y="6547104"/>
            <a:ext cx="6319359"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3/1</a:t>
            </a:r>
            <a:r>
              <a:rPr lang="en-IN" dirty="0"/>
              <a:t>2</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766560" y="347472"/>
            <a:ext cx="118872" cy="118872"/>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73952" y="484632"/>
            <a:ext cx="704088" cy="201168"/>
          </a:xfrm>
          <a:prstGeom prst="rect">
            <a:avLst/>
          </a:prstGeom>
          <a:noFill/>
        </p:spPr>
        <p:txBody>
          <a:bodyPr wrap="none">
            <a:spAutoFit/>
          </a:bodyPr>
          <a:lstStyle/>
          <a:p>
            <a:pPr algn="ctr">
              <a:defRPr sz="800" b="1">
                <a:solidFill>
                  <a:srgbClr val="2E86C1"/>
                </a:solidFill>
              </a:defRPr>
            </a:pPr>
            <a:r>
              <a:t>Setup</a:t>
            </a:r>
          </a:p>
        </p:txBody>
      </p:sp>
      <p:sp>
        <p:nvSpPr>
          <p:cNvPr id="5" name="Rectangle 4"/>
          <p:cNvSpPr/>
          <p:nvPr/>
        </p:nvSpPr>
        <p:spPr>
          <a:xfrm>
            <a:off x="6885432"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54112"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61504" y="484632"/>
            <a:ext cx="704088" cy="201168"/>
          </a:xfrm>
          <a:prstGeom prst="rect">
            <a:avLst/>
          </a:prstGeom>
          <a:noFill/>
        </p:spPr>
        <p:txBody>
          <a:bodyPr wrap="none">
            <a:spAutoFit/>
          </a:bodyPr>
          <a:lstStyle/>
          <a:p>
            <a:pPr algn="ctr">
              <a:defRPr sz="800" b="0">
                <a:solidFill>
                  <a:srgbClr val="5A5A5A"/>
                </a:solidFill>
              </a:defRPr>
            </a:pPr>
            <a:r>
              <a:t>Automatic</a:t>
            </a:r>
          </a:p>
        </p:txBody>
      </p:sp>
      <p:sp>
        <p:nvSpPr>
          <p:cNvPr id="8" name="Rectangle 7"/>
          <p:cNvSpPr/>
          <p:nvPr/>
        </p:nvSpPr>
        <p:spPr>
          <a:xfrm>
            <a:off x="7872984"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41664"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49056" y="484632"/>
            <a:ext cx="704088" cy="201168"/>
          </a:xfrm>
          <a:prstGeom prst="rect">
            <a:avLst/>
          </a:prstGeom>
          <a:noFill/>
        </p:spPr>
        <p:txBody>
          <a:bodyPr wrap="none">
            <a:spAutoFit/>
          </a:bodyPr>
          <a:lstStyle/>
          <a:p>
            <a:pPr algn="ctr">
              <a:defRPr sz="800" b="0">
                <a:solidFill>
                  <a:srgbClr val="5A5A5A"/>
                </a:solidFill>
              </a:defRPr>
            </a:pPr>
            <a:r>
              <a:t>Manual</a:t>
            </a:r>
          </a:p>
        </p:txBody>
      </p:sp>
      <p:sp>
        <p:nvSpPr>
          <p:cNvPr id="11" name="Rectangle 10"/>
          <p:cNvSpPr/>
          <p:nvPr/>
        </p:nvSpPr>
        <p:spPr>
          <a:xfrm>
            <a:off x="8860536"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729216"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36608" y="484632"/>
            <a:ext cx="704088" cy="201168"/>
          </a:xfrm>
          <a:prstGeom prst="rect">
            <a:avLst/>
          </a:prstGeom>
          <a:noFill/>
        </p:spPr>
        <p:txBody>
          <a:bodyPr wrap="none">
            <a:spAutoFit/>
          </a:bodyPr>
          <a:lstStyle/>
          <a:p>
            <a:pPr algn="ctr">
              <a:defRPr sz="800" b="0">
                <a:solidFill>
                  <a:srgbClr val="5A5A5A"/>
                </a:solidFill>
              </a:defRPr>
            </a:pPr>
            <a:r>
              <a:t>Cases</a:t>
            </a:r>
          </a:p>
        </p:txBody>
      </p:sp>
      <p:sp>
        <p:nvSpPr>
          <p:cNvPr id="14" name="Rectangle 13"/>
          <p:cNvSpPr/>
          <p:nvPr/>
        </p:nvSpPr>
        <p:spPr>
          <a:xfrm>
            <a:off x="9848088"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716768"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60" y="484632"/>
            <a:ext cx="704088" cy="201168"/>
          </a:xfrm>
          <a:prstGeom prst="rect">
            <a:avLst/>
          </a:prstGeom>
          <a:noFill/>
        </p:spPr>
        <p:txBody>
          <a:bodyPr wrap="none">
            <a:spAutoFit/>
          </a:bodyPr>
          <a:lstStyle/>
          <a:p>
            <a:pPr algn="ctr">
              <a:defRPr sz="800" b="0">
                <a:solidFill>
                  <a:srgbClr val="5A5A5A"/>
                </a:solidFill>
              </a:defRPr>
            </a:pPr>
            <a:r>
              <a:t>Verdict</a:t>
            </a:r>
          </a:p>
        </p:txBody>
      </p:sp>
      <p:sp>
        <p:nvSpPr>
          <p:cNvPr id="17" name="TextBox 16"/>
          <p:cNvSpPr txBox="1"/>
          <p:nvPr/>
        </p:nvSpPr>
        <p:spPr>
          <a:xfrm>
            <a:off x="457200" y="274320"/>
            <a:ext cx="11247120" cy="685800"/>
          </a:xfrm>
          <a:prstGeom prst="rect">
            <a:avLst/>
          </a:prstGeom>
          <a:noFill/>
        </p:spPr>
        <p:txBody>
          <a:bodyPr wrap="square">
            <a:spAutoFit/>
          </a:bodyPr>
          <a:lstStyle/>
          <a:p>
            <a:pPr>
              <a:defRPr sz="2600" b="1">
                <a:solidFill>
                  <a:srgbClr val="1B2A4A"/>
                </a:solidFill>
              </a:defRPr>
            </a:pPr>
            <a:r>
              <a:t>Three Prompting Strategies</a:t>
            </a:r>
          </a:p>
        </p:txBody>
      </p:sp>
      <p:sp>
        <p:nvSpPr>
          <p:cNvPr id="18" name="TextBox 17"/>
          <p:cNvSpPr txBox="1"/>
          <p:nvPr/>
        </p:nvSpPr>
        <p:spPr>
          <a:xfrm>
            <a:off x="457200" y="749808"/>
            <a:ext cx="11247120" cy="292388"/>
          </a:xfrm>
          <a:prstGeom prst="rect">
            <a:avLst/>
          </a:prstGeom>
          <a:noFill/>
        </p:spPr>
        <p:txBody>
          <a:bodyPr wrap="square">
            <a:spAutoFit/>
          </a:bodyPr>
          <a:lstStyle/>
          <a:p>
            <a:pPr>
              <a:defRPr sz="1300" i="1">
                <a:solidFill>
                  <a:srgbClr val="5A5A5A"/>
                </a:solidFill>
              </a:defRPr>
            </a:pPr>
            <a:r>
              <a:rPr dirty="0"/>
              <a:t>The single variable we're testing </a:t>
            </a:r>
            <a:r>
              <a:rPr lang="en-IN" dirty="0"/>
              <a:t>so</a:t>
            </a:r>
            <a:r>
              <a:rPr dirty="0"/>
              <a:t> same model, same cases</a:t>
            </a:r>
          </a:p>
        </p:txBody>
      </p:sp>
      <p:sp>
        <p:nvSpPr>
          <p:cNvPr id="19" name="Rounded Rectangle 18"/>
          <p:cNvSpPr/>
          <p:nvPr/>
        </p:nvSpPr>
        <p:spPr>
          <a:xfrm>
            <a:off x="548640" y="1600200"/>
            <a:ext cx="11064240" cy="128016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31520" y="1737360"/>
            <a:ext cx="2011680" cy="438912"/>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Zero-shot</a:t>
            </a:r>
          </a:p>
        </p:txBody>
      </p:sp>
      <p:sp>
        <p:nvSpPr>
          <p:cNvPr id="21" name="TextBox 20"/>
          <p:cNvSpPr txBox="1"/>
          <p:nvPr/>
        </p:nvSpPr>
        <p:spPr>
          <a:xfrm>
            <a:off x="2926080" y="1655064"/>
            <a:ext cx="8503920" cy="438912"/>
          </a:xfrm>
          <a:prstGeom prst="rect">
            <a:avLst/>
          </a:prstGeom>
          <a:noFill/>
        </p:spPr>
        <p:txBody>
          <a:bodyPr wrap="square">
            <a:spAutoFit/>
          </a:bodyPr>
          <a:lstStyle/>
          <a:p>
            <a:pPr>
              <a:defRPr sz="1400" b="1">
                <a:solidFill>
                  <a:srgbClr val="1B2A4A"/>
                </a:solidFill>
              </a:defRPr>
            </a:pPr>
            <a:r>
              <a:t>Judgment  →  Hindi Summary</a:t>
            </a:r>
          </a:p>
        </p:txBody>
      </p:sp>
      <p:sp>
        <p:nvSpPr>
          <p:cNvPr id="22" name="TextBox 21"/>
          <p:cNvSpPr txBox="1"/>
          <p:nvPr/>
        </p:nvSpPr>
        <p:spPr>
          <a:xfrm>
            <a:off x="2926080" y="2130552"/>
            <a:ext cx="8503920" cy="548640"/>
          </a:xfrm>
          <a:prstGeom prst="rect">
            <a:avLst/>
          </a:prstGeom>
          <a:noFill/>
        </p:spPr>
        <p:txBody>
          <a:bodyPr wrap="square">
            <a:spAutoFit/>
          </a:bodyPr>
          <a:lstStyle/>
          <a:p>
            <a:pPr>
              <a:defRPr sz="1250">
                <a:solidFill>
                  <a:srgbClr val="5A5A5A"/>
                </a:solidFill>
              </a:defRPr>
            </a:pPr>
            <a:r>
              <a:t>Instruction only. No demonstrations. Model decides which facts/reasoning to preserve.</a:t>
            </a:r>
          </a:p>
        </p:txBody>
      </p:sp>
      <p:sp>
        <p:nvSpPr>
          <p:cNvPr id="23" name="Rounded Rectangle 22"/>
          <p:cNvSpPr/>
          <p:nvPr/>
        </p:nvSpPr>
        <p:spPr>
          <a:xfrm>
            <a:off x="548640" y="3026664"/>
            <a:ext cx="11064240" cy="128016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31520" y="3163824"/>
            <a:ext cx="2011680" cy="438912"/>
          </a:xfrm>
          <a:prstGeom prst="roundRect">
            <a:avLst/>
          </a:prstGeom>
          <a:solidFill>
            <a:srgbClr val="B977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Few-shot</a:t>
            </a:r>
          </a:p>
        </p:txBody>
      </p:sp>
      <p:sp>
        <p:nvSpPr>
          <p:cNvPr id="25" name="TextBox 24"/>
          <p:cNvSpPr txBox="1"/>
          <p:nvPr/>
        </p:nvSpPr>
        <p:spPr>
          <a:xfrm>
            <a:off x="2926080" y="3081528"/>
            <a:ext cx="8503920" cy="438912"/>
          </a:xfrm>
          <a:prstGeom prst="rect">
            <a:avLst/>
          </a:prstGeom>
          <a:noFill/>
        </p:spPr>
        <p:txBody>
          <a:bodyPr wrap="square">
            <a:spAutoFit/>
          </a:bodyPr>
          <a:lstStyle/>
          <a:p>
            <a:pPr>
              <a:defRPr sz="1400" b="1">
                <a:solidFill>
                  <a:srgbClr val="1B2A4A"/>
                </a:solidFill>
              </a:defRPr>
            </a:pPr>
            <a:r>
              <a:t>Examples + Judgment  →  Hindi Summary</a:t>
            </a:r>
          </a:p>
        </p:txBody>
      </p:sp>
      <p:sp>
        <p:nvSpPr>
          <p:cNvPr id="26" name="TextBox 25"/>
          <p:cNvSpPr txBox="1"/>
          <p:nvPr/>
        </p:nvSpPr>
        <p:spPr>
          <a:xfrm>
            <a:off x="2926080" y="3557016"/>
            <a:ext cx="8503920" cy="548640"/>
          </a:xfrm>
          <a:prstGeom prst="rect">
            <a:avLst/>
          </a:prstGeom>
          <a:noFill/>
        </p:spPr>
        <p:txBody>
          <a:bodyPr wrap="square">
            <a:spAutoFit/>
          </a:bodyPr>
          <a:lstStyle/>
          <a:p>
            <a:pPr>
              <a:defRPr sz="1250">
                <a:solidFill>
                  <a:srgbClr val="5A5A5A"/>
                </a:solidFill>
              </a:defRPr>
            </a:pPr>
            <a:r>
              <a:t>A few English-&gt;Hindi example pairs shown before the target judgment.</a:t>
            </a:r>
          </a:p>
        </p:txBody>
      </p:sp>
      <p:sp>
        <p:nvSpPr>
          <p:cNvPr id="27" name="Rounded Rectangle 26"/>
          <p:cNvSpPr/>
          <p:nvPr/>
        </p:nvSpPr>
        <p:spPr>
          <a:xfrm>
            <a:off x="548640" y="4453128"/>
            <a:ext cx="11064240" cy="128016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31520" y="4590288"/>
            <a:ext cx="2011680" cy="438912"/>
          </a:xfrm>
          <a:prstGeom prst="round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Structured CoT</a:t>
            </a:r>
          </a:p>
        </p:txBody>
      </p:sp>
      <p:sp>
        <p:nvSpPr>
          <p:cNvPr id="29" name="TextBox 28"/>
          <p:cNvSpPr txBox="1"/>
          <p:nvPr/>
        </p:nvSpPr>
        <p:spPr>
          <a:xfrm>
            <a:off x="2926080" y="4507992"/>
            <a:ext cx="8503920" cy="438912"/>
          </a:xfrm>
          <a:prstGeom prst="rect">
            <a:avLst/>
          </a:prstGeom>
          <a:noFill/>
        </p:spPr>
        <p:txBody>
          <a:bodyPr wrap="square">
            <a:spAutoFit/>
          </a:bodyPr>
          <a:lstStyle/>
          <a:p>
            <a:pPr>
              <a:defRPr sz="1400" b="1">
                <a:solidFill>
                  <a:srgbClr val="1B2A4A"/>
                </a:solidFill>
              </a:defRPr>
            </a:pPr>
            <a:r>
              <a:t>Judgment -&gt; Facts -&gt; Issue -&gt; Reasoning -&gt; Decision -&gt; Hindi Summary</a:t>
            </a:r>
          </a:p>
        </p:txBody>
      </p:sp>
      <p:sp>
        <p:nvSpPr>
          <p:cNvPr id="30" name="TextBox 29"/>
          <p:cNvSpPr txBox="1"/>
          <p:nvPr/>
        </p:nvSpPr>
        <p:spPr>
          <a:xfrm>
            <a:off x="2926080" y="4983480"/>
            <a:ext cx="8503920" cy="548640"/>
          </a:xfrm>
          <a:prstGeom prst="rect">
            <a:avLst/>
          </a:prstGeom>
          <a:noFill/>
        </p:spPr>
        <p:txBody>
          <a:bodyPr wrap="square">
            <a:spAutoFit/>
          </a:bodyPr>
          <a:lstStyle/>
          <a:p>
            <a:pPr>
              <a:defRPr sz="1250">
                <a:solidFill>
                  <a:srgbClr val="5A5A5A"/>
                </a:solidFill>
              </a:defRPr>
            </a:pPr>
            <a:r>
              <a:t>Explicitly decomposes the judgment before summarizing.</a:t>
            </a:r>
          </a:p>
        </p:txBody>
      </p:sp>
      <p:sp>
        <p:nvSpPr>
          <p:cNvPr id="31" name="TextBox 30"/>
          <p:cNvSpPr txBox="1"/>
          <p:nvPr/>
        </p:nvSpPr>
        <p:spPr>
          <a:xfrm>
            <a:off x="457200" y="5788152"/>
            <a:ext cx="11155680" cy="284693"/>
          </a:xfrm>
          <a:prstGeom prst="rect">
            <a:avLst/>
          </a:prstGeom>
          <a:noFill/>
        </p:spPr>
        <p:txBody>
          <a:bodyPr wrap="square">
            <a:spAutoFit/>
          </a:bodyPr>
          <a:lstStyle/>
          <a:p>
            <a:pPr>
              <a:defRPr sz="1250" i="1">
                <a:solidFill>
                  <a:srgbClr val="5A5A5A"/>
                </a:solidFill>
              </a:defRPr>
            </a:pPr>
            <a:r>
              <a:rPr dirty="0"/>
              <a:t>No strategy was assumed superior in advance </a:t>
            </a:r>
            <a:r>
              <a:rPr lang="en-IN" dirty="0"/>
              <a:t>;</a:t>
            </a:r>
            <a:r>
              <a:rPr dirty="0"/>
              <a:t> this is precisely what the next slides test.</a:t>
            </a:r>
          </a:p>
        </p:txBody>
      </p:sp>
      <p:sp>
        <p:nvSpPr>
          <p:cNvPr id="32" name="Chevron 31"/>
          <p:cNvSpPr/>
          <p:nvPr/>
        </p:nvSpPr>
        <p:spPr>
          <a:xfrm>
            <a:off x="457200" y="6108192"/>
            <a:ext cx="274320" cy="329184"/>
          </a:xfrm>
          <a:prstGeom prst="chevron">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6182572"/>
            <a:ext cx="10716768" cy="276999"/>
          </a:xfrm>
          <a:prstGeom prst="rect">
            <a:avLst/>
          </a:prstGeom>
          <a:noFill/>
        </p:spPr>
        <p:txBody>
          <a:bodyPr wrap="square">
            <a:spAutoFit/>
          </a:bodyPr>
          <a:lstStyle/>
          <a:p>
            <a:pPr>
              <a:defRPr sz="1200" b="1" i="1">
                <a:solidFill>
                  <a:srgbClr val="2E86C1"/>
                </a:solidFill>
              </a:defRPr>
            </a:pPr>
            <a:r>
              <a:rPr dirty="0"/>
              <a:t>First test: do the numbers agree on a winner? Starting with automatic metrics...</a:t>
            </a:r>
          </a:p>
        </p:txBody>
      </p:sp>
      <p:sp>
        <p:nvSpPr>
          <p:cNvPr id="34" name="TextBox 33"/>
          <p:cNvSpPr txBox="1"/>
          <p:nvPr/>
        </p:nvSpPr>
        <p:spPr>
          <a:xfrm>
            <a:off x="457200" y="6547104"/>
            <a:ext cx="6319359"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4/1</a:t>
            </a:r>
            <a:r>
              <a:rPr lang="en-IN" dirty="0"/>
              <a:t>2</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766560"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73952" y="484632"/>
            <a:ext cx="704088" cy="201168"/>
          </a:xfrm>
          <a:prstGeom prst="rect">
            <a:avLst/>
          </a:prstGeom>
          <a:noFill/>
        </p:spPr>
        <p:txBody>
          <a:bodyPr wrap="none">
            <a:spAutoFit/>
          </a:bodyPr>
          <a:lstStyle/>
          <a:p>
            <a:pPr algn="ctr">
              <a:defRPr sz="800" b="0">
                <a:solidFill>
                  <a:srgbClr val="5A5A5A"/>
                </a:solidFill>
              </a:defRPr>
            </a:pPr>
            <a:r>
              <a:t>Setup</a:t>
            </a:r>
          </a:p>
        </p:txBody>
      </p:sp>
      <p:sp>
        <p:nvSpPr>
          <p:cNvPr id="5" name="Rectangle 4"/>
          <p:cNvSpPr/>
          <p:nvPr/>
        </p:nvSpPr>
        <p:spPr>
          <a:xfrm>
            <a:off x="6885432"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54112" y="347472"/>
            <a:ext cx="118872" cy="118872"/>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61504" y="484632"/>
            <a:ext cx="704088" cy="201168"/>
          </a:xfrm>
          <a:prstGeom prst="rect">
            <a:avLst/>
          </a:prstGeom>
          <a:noFill/>
        </p:spPr>
        <p:txBody>
          <a:bodyPr wrap="none">
            <a:spAutoFit/>
          </a:bodyPr>
          <a:lstStyle/>
          <a:p>
            <a:pPr algn="ctr">
              <a:defRPr sz="800" b="1">
                <a:solidFill>
                  <a:srgbClr val="2E86C1"/>
                </a:solidFill>
              </a:defRPr>
            </a:pPr>
            <a:r>
              <a:t>Automatic</a:t>
            </a:r>
          </a:p>
        </p:txBody>
      </p:sp>
      <p:sp>
        <p:nvSpPr>
          <p:cNvPr id="8" name="Rectangle 7"/>
          <p:cNvSpPr/>
          <p:nvPr/>
        </p:nvSpPr>
        <p:spPr>
          <a:xfrm>
            <a:off x="7872984"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41664"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49056" y="484632"/>
            <a:ext cx="704088" cy="201168"/>
          </a:xfrm>
          <a:prstGeom prst="rect">
            <a:avLst/>
          </a:prstGeom>
          <a:noFill/>
        </p:spPr>
        <p:txBody>
          <a:bodyPr wrap="none">
            <a:spAutoFit/>
          </a:bodyPr>
          <a:lstStyle/>
          <a:p>
            <a:pPr algn="ctr">
              <a:defRPr sz="800" b="0">
                <a:solidFill>
                  <a:srgbClr val="5A5A5A"/>
                </a:solidFill>
              </a:defRPr>
            </a:pPr>
            <a:r>
              <a:t>Manual</a:t>
            </a:r>
          </a:p>
        </p:txBody>
      </p:sp>
      <p:sp>
        <p:nvSpPr>
          <p:cNvPr id="11" name="Rectangle 10"/>
          <p:cNvSpPr/>
          <p:nvPr/>
        </p:nvSpPr>
        <p:spPr>
          <a:xfrm>
            <a:off x="8860536"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729216"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36608" y="484632"/>
            <a:ext cx="704088" cy="201168"/>
          </a:xfrm>
          <a:prstGeom prst="rect">
            <a:avLst/>
          </a:prstGeom>
          <a:noFill/>
        </p:spPr>
        <p:txBody>
          <a:bodyPr wrap="none">
            <a:spAutoFit/>
          </a:bodyPr>
          <a:lstStyle/>
          <a:p>
            <a:pPr algn="ctr">
              <a:defRPr sz="800" b="0">
                <a:solidFill>
                  <a:srgbClr val="5A5A5A"/>
                </a:solidFill>
              </a:defRPr>
            </a:pPr>
            <a:r>
              <a:t>Cases</a:t>
            </a:r>
          </a:p>
        </p:txBody>
      </p:sp>
      <p:sp>
        <p:nvSpPr>
          <p:cNvPr id="14" name="Rectangle 13"/>
          <p:cNvSpPr/>
          <p:nvPr/>
        </p:nvSpPr>
        <p:spPr>
          <a:xfrm>
            <a:off x="9848088"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716768"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60" y="484632"/>
            <a:ext cx="704088" cy="201168"/>
          </a:xfrm>
          <a:prstGeom prst="rect">
            <a:avLst/>
          </a:prstGeom>
          <a:noFill/>
        </p:spPr>
        <p:txBody>
          <a:bodyPr wrap="none">
            <a:spAutoFit/>
          </a:bodyPr>
          <a:lstStyle/>
          <a:p>
            <a:pPr algn="ctr">
              <a:defRPr sz="800" b="0">
                <a:solidFill>
                  <a:srgbClr val="5A5A5A"/>
                </a:solidFill>
              </a:defRPr>
            </a:pPr>
            <a:r>
              <a:t>Verdict</a:t>
            </a:r>
          </a:p>
        </p:txBody>
      </p:sp>
      <p:sp>
        <p:nvSpPr>
          <p:cNvPr id="17" name="TextBox 16"/>
          <p:cNvSpPr txBox="1"/>
          <p:nvPr/>
        </p:nvSpPr>
        <p:spPr>
          <a:xfrm>
            <a:off x="457200" y="274320"/>
            <a:ext cx="11247120" cy="685800"/>
          </a:xfrm>
          <a:prstGeom prst="rect">
            <a:avLst/>
          </a:prstGeom>
          <a:noFill/>
        </p:spPr>
        <p:txBody>
          <a:bodyPr wrap="square">
            <a:spAutoFit/>
          </a:bodyPr>
          <a:lstStyle/>
          <a:p>
            <a:pPr>
              <a:defRPr sz="2600" b="1">
                <a:solidFill>
                  <a:srgbClr val="1B2A4A"/>
                </a:solidFill>
              </a:defRPr>
            </a:pPr>
            <a:r>
              <a:t>Automatic Evaluation Results</a:t>
            </a:r>
          </a:p>
        </p:txBody>
      </p:sp>
      <p:sp>
        <p:nvSpPr>
          <p:cNvPr id="18" name="TextBox 17"/>
          <p:cNvSpPr txBox="1"/>
          <p:nvPr/>
        </p:nvSpPr>
        <p:spPr>
          <a:xfrm>
            <a:off x="457200" y="749808"/>
            <a:ext cx="11247120" cy="292388"/>
          </a:xfrm>
          <a:prstGeom prst="rect">
            <a:avLst/>
          </a:prstGeom>
          <a:noFill/>
        </p:spPr>
        <p:txBody>
          <a:bodyPr wrap="square">
            <a:spAutoFit/>
          </a:bodyPr>
          <a:lstStyle/>
          <a:p>
            <a:pPr>
              <a:defRPr sz="1300" i="1">
                <a:solidFill>
                  <a:srgbClr val="5A5A5A"/>
                </a:solidFill>
              </a:defRPr>
            </a:pPr>
            <a:r>
              <a:rPr dirty="0"/>
              <a:t>First piece of evidence and it already contradicts itself</a:t>
            </a:r>
          </a:p>
        </p:txBody>
      </p:sp>
      <p:graphicFrame>
        <p:nvGraphicFramePr>
          <p:cNvPr id="19" name="Table 18"/>
          <p:cNvGraphicFramePr>
            <a:graphicFrameLocks noGrp="1"/>
          </p:cNvGraphicFramePr>
          <p:nvPr/>
        </p:nvGraphicFramePr>
        <p:xfrm>
          <a:off x="548640" y="1645920"/>
          <a:ext cx="5852160" cy="1371600"/>
        </p:xfrm>
        <a:graphic>
          <a:graphicData uri="http://schemas.openxmlformats.org/drawingml/2006/table">
            <a:tbl>
              <a:tblPr firstRow="1" bandRow="1">
                <a:tableStyleId>{5C22544A-7EE6-4342-B048-85BDC9FD1C3A}</a:tableStyleId>
              </a:tblPr>
              <a:tblGrid>
                <a:gridCol w="1170432">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342900">
                <a:tc>
                  <a:txBody>
                    <a:bodyPr/>
                    <a:lstStyle/>
                    <a:p>
                      <a:pPr>
                        <a:defRPr sz="1200" b="1">
                          <a:solidFill>
                            <a:srgbClr val="FFFFFF"/>
                          </a:solidFill>
                        </a:defRPr>
                      </a:pPr>
                      <a:r>
                        <a:t>Method</a:t>
                      </a:r>
                    </a:p>
                  </a:txBody>
                  <a:tcPr>
                    <a:solidFill>
                      <a:srgbClr val="1B2A4A"/>
                    </a:solidFill>
                  </a:tcPr>
                </a:tc>
                <a:tc>
                  <a:txBody>
                    <a:bodyPr/>
                    <a:lstStyle/>
                    <a:p>
                      <a:pPr>
                        <a:defRPr sz="1200" b="1">
                          <a:solidFill>
                            <a:srgbClr val="FFFFFF"/>
                          </a:solidFill>
                        </a:defRPr>
                      </a:pPr>
                      <a:r>
                        <a:t>ROUGE-1</a:t>
                      </a:r>
                    </a:p>
                  </a:txBody>
                  <a:tcPr>
                    <a:solidFill>
                      <a:srgbClr val="1B2A4A"/>
                    </a:solidFill>
                  </a:tcPr>
                </a:tc>
                <a:tc>
                  <a:txBody>
                    <a:bodyPr/>
                    <a:lstStyle/>
                    <a:p>
                      <a:pPr>
                        <a:defRPr sz="1200" b="1">
                          <a:solidFill>
                            <a:srgbClr val="FFFFFF"/>
                          </a:solidFill>
                        </a:defRPr>
                      </a:pPr>
                      <a:r>
                        <a:t>ROUGE-2</a:t>
                      </a:r>
                    </a:p>
                  </a:txBody>
                  <a:tcPr>
                    <a:solidFill>
                      <a:srgbClr val="1B2A4A"/>
                    </a:solidFill>
                  </a:tcPr>
                </a:tc>
                <a:tc>
                  <a:txBody>
                    <a:bodyPr/>
                    <a:lstStyle/>
                    <a:p>
                      <a:pPr>
                        <a:defRPr sz="1200" b="1">
                          <a:solidFill>
                            <a:srgbClr val="FFFFFF"/>
                          </a:solidFill>
                        </a:defRPr>
                      </a:pPr>
                      <a:r>
                        <a:t>ROUGE-L</a:t>
                      </a:r>
                    </a:p>
                  </a:txBody>
                  <a:tcPr>
                    <a:solidFill>
                      <a:srgbClr val="1B2A4A"/>
                    </a:solidFill>
                  </a:tcPr>
                </a:tc>
                <a:tc>
                  <a:txBody>
                    <a:bodyPr/>
                    <a:lstStyle/>
                    <a:p>
                      <a:pPr>
                        <a:defRPr sz="1200" b="1">
                          <a:solidFill>
                            <a:srgbClr val="FFFFFF"/>
                          </a:solidFill>
                        </a:defRPr>
                      </a:pPr>
                      <a:r>
                        <a:t>BERT-F1</a:t>
                      </a:r>
                    </a:p>
                  </a:txBody>
                  <a:tcPr>
                    <a:solidFill>
                      <a:srgbClr val="1B2A4A"/>
                    </a:solidFill>
                  </a:tcPr>
                </a:tc>
                <a:extLst>
                  <a:ext uri="{0D108BD9-81ED-4DB2-BD59-A6C34878D82A}">
                    <a16:rowId xmlns:a16="http://schemas.microsoft.com/office/drawing/2014/main" val="10000"/>
                  </a:ext>
                </a:extLst>
              </a:tr>
              <a:tr h="342900">
                <a:tc>
                  <a:txBody>
                    <a:bodyPr/>
                    <a:lstStyle/>
                    <a:p>
                      <a:pPr>
                        <a:defRPr sz="1200"/>
                      </a:pPr>
                      <a:r>
                        <a:t>Zero-shot</a:t>
                      </a:r>
                    </a:p>
                  </a:txBody>
                  <a:tcPr>
                    <a:solidFill>
                      <a:srgbClr val="FFFFFF"/>
                    </a:solidFill>
                  </a:tcPr>
                </a:tc>
                <a:tc>
                  <a:txBody>
                    <a:bodyPr/>
                    <a:lstStyle/>
                    <a:p>
                      <a:pPr>
                        <a:defRPr sz="1200"/>
                      </a:pPr>
                      <a:r>
                        <a:t>0.0934</a:t>
                      </a:r>
                    </a:p>
                  </a:txBody>
                  <a:tcPr>
                    <a:solidFill>
                      <a:srgbClr val="FFFFFF"/>
                    </a:solidFill>
                  </a:tcPr>
                </a:tc>
                <a:tc>
                  <a:txBody>
                    <a:bodyPr/>
                    <a:lstStyle/>
                    <a:p>
                      <a:pPr>
                        <a:defRPr sz="1200"/>
                      </a:pPr>
                      <a:r>
                        <a:t>0.0289</a:t>
                      </a:r>
                    </a:p>
                  </a:txBody>
                  <a:tcPr>
                    <a:solidFill>
                      <a:srgbClr val="FFFFFF"/>
                    </a:solidFill>
                  </a:tcPr>
                </a:tc>
                <a:tc>
                  <a:txBody>
                    <a:bodyPr/>
                    <a:lstStyle/>
                    <a:p>
                      <a:pPr>
                        <a:defRPr sz="1200"/>
                      </a:pPr>
                      <a:r>
                        <a:t>0.0657</a:t>
                      </a:r>
                    </a:p>
                  </a:txBody>
                  <a:tcPr>
                    <a:solidFill>
                      <a:srgbClr val="FFFFFF"/>
                    </a:solidFill>
                  </a:tcPr>
                </a:tc>
                <a:tc>
                  <a:txBody>
                    <a:bodyPr/>
                    <a:lstStyle/>
                    <a:p>
                      <a:pPr>
                        <a:defRPr sz="1200" b="1">
                          <a:solidFill>
                            <a:srgbClr val="2E86C1"/>
                          </a:solidFill>
                        </a:defRPr>
                      </a:pPr>
                      <a:r>
                        <a:t>0.7242</a:t>
                      </a:r>
                    </a:p>
                  </a:txBody>
                  <a:tcPr>
                    <a:solidFill>
                      <a:srgbClr val="FFFFFF"/>
                    </a:solidFill>
                  </a:tcPr>
                </a:tc>
                <a:extLst>
                  <a:ext uri="{0D108BD9-81ED-4DB2-BD59-A6C34878D82A}">
                    <a16:rowId xmlns:a16="http://schemas.microsoft.com/office/drawing/2014/main" val="10001"/>
                  </a:ext>
                </a:extLst>
              </a:tr>
              <a:tr h="342900">
                <a:tc>
                  <a:txBody>
                    <a:bodyPr/>
                    <a:lstStyle/>
                    <a:p>
                      <a:pPr>
                        <a:defRPr sz="1200"/>
                      </a:pPr>
                      <a:r>
                        <a:t>Few-shot</a:t>
                      </a:r>
                    </a:p>
                  </a:txBody>
                  <a:tcPr>
                    <a:solidFill>
                      <a:srgbClr val="FFFFFF"/>
                    </a:solidFill>
                  </a:tcPr>
                </a:tc>
                <a:tc>
                  <a:txBody>
                    <a:bodyPr/>
                    <a:lstStyle/>
                    <a:p>
                      <a:pPr>
                        <a:defRPr sz="1200" b="1">
                          <a:solidFill>
                            <a:srgbClr val="2E86C1"/>
                          </a:solidFill>
                        </a:defRPr>
                      </a:pPr>
                      <a:r>
                        <a:t>0.1894</a:t>
                      </a:r>
                    </a:p>
                  </a:txBody>
                  <a:tcPr>
                    <a:solidFill>
                      <a:srgbClr val="FFFFFF"/>
                    </a:solidFill>
                  </a:tcPr>
                </a:tc>
                <a:tc>
                  <a:txBody>
                    <a:bodyPr/>
                    <a:lstStyle/>
                    <a:p>
                      <a:pPr>
                        <a:defRPr sz="1200" b="1">
                          <a:solidFill>
                            <a:srgbClr val="2E86C1"/>
                          </a:solidFill>
                        </a:defRPr>
                      </a:pPr>
                      <a:r>
                        <a:t>0.0681</a:t>
                      </a:r>
                    </a:p>
                  </a:txBody>
                  <a:tcPr>
                    <a:solidFill>
                      <a:srgbClr val="FFFFFF"/>
                    </a:solidFill>
                  </a:tcPr>
                </a:tc>
                <a:tc>
                  <a:txBody>
                    <a:bodyPr/>
                    <a:lstStyle/>
                    <a:p>
                      <a:pPr>
                        <a:defRPr sz="1200" b="1">
                          <a:solidFill>
                            <a:srgbClr val="2E86C1"/>
                          </a:solidFill>
                        </a:defRPr>
                      </a:pPr>
                      <a:r>
                        <a:t>0.1606</a:t>
                      </a:r>
                    </a:p>
                  </a:txBody>
                  <a:tcPr>
                    <a:solidFill>
                      <a:srgbClr val="FFFFFF"/>
                    </a:solidFill>
                  </a:tcPr>
                </a:tc>
                <a:tc>
                  <a:txBody>
                    <a:bodyPr/>
                    <a:lstStyle/>
                    <a:p>
                      <a:pPr>
                        <a:defRPr sz="1200"/>
                      </a:pPr>
                      <a:r>
                        <a:t>0.6458</a:t>
                      </a:r>
                    </a:p>
                  </a:txBody>
                  <a:tcPr>
                    <a:solidFill>
                      <a:srgbClr val="FFFFFF"/>
                    </a:solidFill>
                  </a:tcPr>
                </a:tc>
                <a:extLst>
                  <a:ext uri="{0D108BD9-81ED-4DB2-BD59-A6C34878D82A}">
                    <a16:rowId xmlns:a16="http://schemas.microsoft.com/office/drawing/2014/main" val="10002"/>
                  </a:ext>
                </a:extLst>
              </a:tr>
              <a:tr h="342900">
                <a:tc>
                  <a:txBody>
                    <a:bodyPr/>
                    <a:lstStyle/>
                    <a:p>
                      <a:pPr>
                        <a:defRPr sz="1200"/>
                      </a:pPr>
                      <a:r>
                        <a:t>Structured CoT</a:t>
                      </a:r>
                    </a:p>
                  </a:txBody>
                  <a:tcPr>
                    <a:solidFill>
                      <a:srgbClr val="FFFFFF"/>
                    </a:solidFill>
                  </a:tcPr>
                </a:tc>
                <a:tc>
                  <a:txBody>
                    <a:bodyPr/>
                    <a:lstStyle/>
                    <a:p>
                      <a:pPr>
                        <a:defRPr sz="1200"/>
                      </a:pPr>
                      <a:r>
                        <a:t>0.1552</a:t>
                      </a:r>
                    </a:p>
                  </a:txBody>
                  <a:tcPr>
                    <a:solidFill>
                      <a:srgbClr val="FFFFFF"/>
                    </a:solidFill>
                  </a:tcPr>
                </a:tc>
                <a:tc>
                  <a:txBody>
                    <a:bodyPr/>
                    <a:lstStyle/>
                    <a:p>
                      <a:pPr>
                        <a:defRPr sz="1200"/>
                      </a:pPr>
                      <a:r>
                        <a:t>0.0500</a:t>
                      </a:r>
                    </a:p>
                  </a:txBody>
                  <a:tcPr>
                    <a:solidFill>
                      <a:srgbClr val="FFFFFF"/>
                    </a:solidFill>
                  </a:tcPr>
                </a:tc>
                <a:tc>
                  <a:txBody>
                    <a:bodyPr/>
                    <a:lstStyle/>
                    <a:p>
                      <a:pPr>
                        <a:defRPr sz="1200"/>
                      </a:pPr>
                      <a:r>
                        <a:t>0.1118</a:t>
                      </a:r>
                    </a:p>
                  </a:txBody>
                  <a:tcPr>
                    <a:solidFill>
                      <a:srgbClr val="FFFFFF"/>
                    </a:solidFill>
                  </a:tcPr>
                </a:tc>
                <a:tc>
                  <a:txBody>
                    <a:bodyPr/>
                    <a:lstStyle/>
                    <a:p>
                      <a:pPr>
                        <a:defRPr sz="1200"/>
                      </a:pPr>
                      <a:r>
                        <a:t>0.7042</a:t>
                      </a:r>
                    </a:p>
                  </a:txBody>
                  <a:tcPr>
                    <a:solidFill>
                      <a:srgbClr val="FFFFFF"/>
                    </a:solidFill>
                  </a:tcPr>
                </a:tc>
                <a:extLst>
                  <a:ext uri="{0D108BD9-81ED-4DB2-BD59-A6C34878D82A}">
                    <a16:rowId xmlns:a16="http://schemas.microsoft.com/office/drawing/2014/main" val="10003"/>
                  </a:ext>
                </a:extLst>
              </a:tr>
            </a:tbl>
          </a:graphicData>
        </a:graphic>
      </p:graphicFrame>
      <p:sp>
        <p:nvSpPr>
          <p:cNvPr id="20" name="TextBox 19"/>
          <p:cNvSpPr txBox="1"/>
          <p:nvPr/>
        </p:nvSpPr>
        <p:spPr>
          <a:xfrm>
            <a:off x="548640" y="3246120"/>
            <a:ext cx="5852160" cy="1664366"/>
          </a:xfrm>
          <a:prstGeom prst="rect">
            <a:avLst/>
          </a:prstGeom>
          <a:noFill/>
        </p:spPr>
        <p:txBody>
          <a:bodyPr wrap="square">
            <a:spAutoFit/>
          </a:bodyPr>
          <a:lstStyle/>
          <a:p>
            <a:pPr>
              <a:lnSpc>
                <a:spcPct val="115000"/>
              </a:lnSpc>
              <a:spcAft>
                <a:spcPts val="800"/>
              </a:spcAft>
              <a:defRPr sz="1300">
                <a:solidFill>
                  <a:srgbClr val="222222"/>
                </a:solidFill>
              </a:defRPr>
            </a:pPr>
            <a:r>
              <a:rPr dirty="0"/>
              <a:t>•  Few-shot achieves the highest ROUGE-1, ROUGE-2, and ROUGE-L (lexical overlap with reference).</a:t>
            </a:r>
          </a:p>
          <a:p>
            <a:pPr>
              <a:lnSpc>
                <a:spcPct val="115000"/>
              </a:lnSpc>
              <a:spcAft>
                <a:spcPts val="800"/>
              </a:spcAft>
              <a:defRPr sz="1300">
                <a:solidFill>
                  <a:srgbClr val="222222"/>
                </a:solidFill>
              </a:defRPr>
            </a:pPr>
            <a:r>
              <a:rPr dirty="0"/>
              <a:t>•  Zero-shot achieves the highest BERTScore-F1 (semantic similarity); </a:t>
            </a:r>
            <a:r>
              <a:rPr dirty="0" err="1"/>
              <a:t>CoT</a:t>
            </a:r>
            <a:r>
              <a:rPr dirty="0"/>
              <a:t> is close behind and more stable.</a:t>
            </a:r>
          </a:p>
          <a:p>
            <a:pPr>
              <a:lnSpc>
                <a:spcPct val="115000"/>
              </a:lnSpc>
              <a:spcAft>
                <a:spcPts val="800"/>
              </a:spcAft>
              <a:defRPr sz="1300">
                <a:solidFill>
                  <a:srgbClr val="222222"/>
                </a:solidFill>
              </a:defRPr>
            </a:pPr>
            <a:r>
              <a:rPr dirty="0"/>
              <a:t>•  Few-shot also shows very high variance on </a:t>
            </a:r>
            <a:r>
              <a:rPr dirty="0" err="1"/>
              <a:t>BERTScore</a:t>
            </a:r>
            <a:r>
              <a:rPr dirty="0"/>
              <a:t> </a:t>
            </a:r>
            <a:r>
              <a:rPr lang="en-IN" dirty="0"/>
              <a:t>so</a:t>
            </a:r>
            <a:r>
              <a:rPr dirty="0"/>
              <a:t> its lexical wins are less consistent.</a:t>
            </a:r>
          </a:p>
        </p:txBody>
      </p:sp>
      <p:sp>
        <p:nvSpPr>
          <p:cNvPr id="21" name="Rounded Rectangle 20"/>
          <p:cNvSpPr/>
          <p:nvPr/>
        </p:nvSpPr>
        <p:spPr>
          <a:xfrm>
            <a:off x="548640" y="5166360"/>
            <a:ext cx="5852160" cy="6400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3679" y="5349240"/>
            <a:ext cx="5486400" cy="457200"/>
          </a:xfrm>
          <a:prstGeom prst="rect">
            <a:avLst/>
          </a:prstGeom>
          <a:noFill/>
        </p:spPr>
        <p:txBody>
          <a:bodyPr wrap="square">
            <a:spAutoFit/>
          </a:bodyPr>
          <a:lstStyle/>
          <a:p>
            <a:pPr>
              <a:defRPr sz="1400" b="1">
                <a:solidFill>
                  <a:srgbClr val="C0392B"/>
                </a:solidFill>
              </a:defRPr>
            </a:pPr>
            <a:r>
              <a:rPr dirty="0"/>
              <a:t>Two automatic metrics, two different winners.</a:t>
            </a:r>
          </a:p>
        </p:txBody>
      </p:sp>
      <p:pic>
        <p:nvPicPr>
          <p:cNvPr id="23" name="Picture 22" descr="rouge_breakdown.jpg"/>
          <p:cNvPicPr>
            <a:picLocks noChangeAspect="1"/>
          </p:cNvPicPr>
          <p:nvPr/>
        </p:nvPicPr>
        <p:blipFill>
          <a:blip r:embed="rId2"/>
          <a:stretch>
            <a:fillRect/>
          </a:stretch>
        </p:blipFill>
        <p:spPr>
          <a:xfrm>
            <a:off x="6583680" y="1913708"/>
            <a:ext cx="5074920" cy="3624942"/>
          </a:xfrm>
          <a:prstGeom prst="rect">
            <a:avLst/>
          </a:prstGeom>
        </p:spPr>
      </p:pic>
      <p:sp>
        <p:nvSpPr>
          <p:cNvPr id="24" name="Chevron 23"/>
          <p:cNvSpPr/>
          <p:nvPr/>
        </p:nvSpPr>
        <p:spPr>
          <a:xfrm>
            <a:off x="457200" y="6108192"/>
            <a:ext cx="274320" cy="329184"/>
          </a:xfrm>
          <a:prstGeom prst="chevron">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8" y="6089904"/>
            <a:ext cx="10607040" cy="384048"/>
          </a:xfrm>
          <a:prstGeom prst="rect">
            <a:avLst/>
          </a:prstGeom>
          <a:noFill/>
        </p:spPr>
        <p:txBody>
          <a:bodyPr wrap="square">
            <a:spAutoFit/>
          </a:bodyPr>
          <a:lstStyle/>
          <a:p>
            <a:pPr>
              <a:defRPr sz="1200" b="1" i="1">
                <a:solidFill>
                  <a:srgbClr val="2E86C1"/>
                </a:solidFill>
              </a:defRPr>
            </a:pPr>
            <a:r>
              <a:t>If the metrics disagree, does human evaluation tell a different story?</a:t>
            </a:r>
          </a:p>
        </p:txBody>
      </p:sp>
      <p:sp>
        <p:nvSpPr>
          <p:cNvPr id="26" name="TextBox 25"/>
          <p:cNvSpPr txBox="1"/>
          <p:nvPr/>
        </p:nvSpPr>
        <p:spPr>
          <a:xfrm>
            <a:off x="457200" y="6547104"/>
            <a:ext cx="6319359"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5/1</a:t>
            </a:r>
            <a:r>
              <a:rPr lang="en-IN" dirty="0"/>
              <a:t>2</a:t>
            </a:r>
            <a:endParaRPr dirty="0"/>
          </a:p>
        </p:txBody>
      </p:sp>
      <p:pic>
        <p:nvPicPr>
          <p:cNvPr id="28" name="Picture 27">
            <a:extLst>
              <a:ext uri="{FF2B5EF4-FFF2-40B4-BE49-F238E27FC236}">
                <a16:creationId xmlns:a16="http://schemas.microsoft.com/office/drawing/2014/main" id="{1AB7B4B9-DB73-FCAE-BB14-08728CEA8D0C}"/>
              </a:ext>
            </a:extLst>
          </p:cNvPr>
          <p:cNvPicPr>
            <a:picLocks noChangeAspect="1"/>
          </p:cNvPicPr>
          <p:nvPr/>
        </p:nvPicPr>
        <p:blipFill>
          <a:blip r:embed="rId3"/>
          <a:stretch>
            <a:fillRect/>
          </a:stretch>
        </p:blipFill>
        <p:spPr>
          <a:xfrm>
            <a:off x="6647688" y="1886276"/>
            <a:ext cx="4984666" cy="36523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766560"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73952" y="484632"/>
            <a:ext cx="704088" cy="201168"/>
          </a:xfrm>
          <a:prstGeom prst="rect">
            <a:avLst/>
          </a:prstGeom>
          <a:noFill/>
        </p:spPr>
        <p:txBody>
          <a:bodyPr wrap="none">
            <a:spAutoFit/>
          </a:bodyPr>
          <a:lstStyle/>
          <a:p>
            <a:pPr algn="ctr">
              <a:defRPr sz="800" b="0">
                <a:solidFill>
                  <a:srgbClr val="5A5A5A"/>
                </a:solidFill>
              </a:defRPr>
            </a:pPr>
            <a:r>
              <a:t>Setup</a:t>
            </a:r>
          </a:p>
        </p:txBody>
      </p:sp>
      <p:sp>
        <p:nvSpPr>
          <p:cNvPr id="5" name="Rectangle 4"/>
          <p:cNvSpPr/>
          <p:nvPr/>
        </p:nvSpPr>
        <p:spPr>
          <a:xfrm>
            <a:off x="6885432"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54112"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61504" y="484632"/>
            <a:ext cx="704088" cy="201168"/>
          </a:xfrm>
          <a:prstGeom prst="rect">
            <a:avLst/>
          </a:prstGeom>
          <a:noFill/>
        </p:spPr>
        <p:txBody>
          <a:bodyPr wrap="none">
            <a:spAutoFit/>
          </a:bodyPr>
          <a:lstStyle/>
          <a:p>
            <a:pPr algn="ctr">
              <a:defRPr sz="800" b="0">
                <a:solidFill>
                  <a:srgbClr val="5A5A5A"/>
                </a:solidFill>
              </a:defRPr>
            </a:pPr>
            <a:r>
              <a:t>Automatic</a:t>
            </a:r>
          </a:p>
        </p:txBody>
      </p:sp>
      <p:sp>
        <p:nvSpPr>
          <p:cNvPr id="8" name="Rectangle 7"/>
          <p:cNvSpPr/>
          <p:nvPr/>
        </p:nvSpPr>
        <p:spPr>
          <a:xfrm>
            <a:off x="7872984"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41664" y="347472"/>
            <a:ext cx="118872" cy="118872"/>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49056" y="484632"/>
            <a:ext cx="704088" cy="201168"/>
          </a:xfrm>
          <a:prstGeom prst="rect">
            <a:avLst/>
          </a:prstGeom>
          <a:noFill/>
        </p:spPr>
        <p:txBody>
          <a:bodyPr wrap="none">
            <a:spAutoFit/>
          </a:bodyPr>
          <a:lstStyle/>
          <a:p>
            <a:pPr algn="ctr">
              <a:defRPr sz="800" b="1">
                <a:solidFill>
                  <a:srgbClr val="2E86C1"/>
                </a:solidFill>
              </a:defRPr>
            </a:pPr>
            <a:r>
              <a:t>Manual</a:t>
            </a:r>
          </a:p>
        </p:txBody>
      </p:sp>
      <p:sp>
        <p:nvSpPr>
          <p:cNvPr id="11" name="Rectangle 10"/>
          <p:cNvSpPr/>
          <p:nvPr/>
        </p:nvSpPr>
        <p:spPr>
          <a:xfrm>
            <a:off x="8860536"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729216"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36608" y="484632"/>
            <a:ext cx="704088" cy="201168"/>
          </a:xfrm>
          <a:prstGeom prst="rect">
            <a:avLst/>
          </a:prstGeom>
          <a:noFill/>
        </p:spPr>
        <p:txBody>
          <a:bodyPr wrap="none">
            <a:spAutoFit/>
          </a:bodyPr>
          <a:lstStyle/>
          <a:p>
            <a:pPr algn="ctr">
              <a:defRPr sz="800" b="0">
                <a:solidFill>
                  <a:srgbClr val="5A5A5A"/>
                </a:solidFill>
              </a:defRPr>
            </a:pPr>
            <a:r>
              <a:t>Cases</a:t>
            </a:r>
          </a:p>
        </p:txBody>
      </p:sp>
      <p:sp>
        <p:nvSpPr>
          <p:cNvPr id="14" name="Rectangle 13"/>
          <p:cNvSpPr/>
          <p:nvPr/>
        </p:nvSpPr>
        <p:spPr>
          <a:xfrm>
            <a:off x="9848088"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716768"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60" y="484632"/>
            <a:ext cx="704088" cy="201168"/>
          </a:xfrm>
          <a:prstGeom prst="rect">
            <a:avLst/>
          </a:prstGeom>
          <a:noFill/>
        </p:spPr>
        <p:txBody>
          <a:bodyPr wrap="none">
            <a:spAutoFit/>
          </a:bodyPr>
          <a:lstStyle/>
          <a:p>
            <a:pPr algn="ctr">
              <a:defRPr sz="800" b="0">
                <a:solidFill>
                  <a:srgbClr val="5A5A5A"/>
                </a:solidFill>
              </a:defRPr>
            </a:pPr>
            <a:r>
              <a:t>Verdict</a:t>
            </a:r>
          </a:p>
        </p:txBody>
      </p:sp>
      <p:sp>
        <p:nvSpPr>
          <p:cNvPr id="17" name="TextBox 16"/>
          <p:cNvSpPr txBox="1"/>
          <p:nvPr/>
        </p:nvSpPr>
        <p:spPr>
          <a:xfrm>
            <a:off x="457200" y="274320"/>
            <a:ext cx="11247120" cy="685800"/>
          </a:xfrm>
          <a:prstGeom prst="rect">
            <a:avLst/>
          </a:prstGeom>
          <a:noFill/>
        </p:spPr>
        <p:txBody>
          <a:bodyPr wrap="square">
            <a:spAutoFit/>
          </a:bodyPr>
          <a:lstStyle/>
          <a:p>
            <a:pPr>
              <a:defRPr sz="2600" b="1">
                <a:solidFill>
                  <a:srgbClr val="1B2A4A"/>
                </a:solidFill>
              </a:defRPr>
            </a:pPr>
            <a:r>
              <a:t>Manual Evaluation Results</a:t>
            </a:r>
          </a:p>
        </p:txBody>
      </p:sp>
      <p:sp>
        <p:nvSpPr>
          <p:cNvPr id="18" name="TextBox 17"/>
          <p:cNvSpPr txBox="1"/>
          <p:nvPr/>
        </p:nvSpPr>
        <p:spPr>
          <a:xfrm>
            <a:off x="457200" y="749808"/>
            <a:ext cx="11247120" cy="292388"/>
          </a:xfrm>
          <a:prstGeom prst="rect">
            <a:avLst/>
          </a:prstGeom>
          <a:noFill/>
        </p:spPr>
        <p:txBody>
          <a:bodyPr wrap="square">
            <a:spAutoFit/>
          </a:bodyPr>
          <a:lstStyle/>
          <a:p>
            <a:pPr>
              <a:defRPr sz="1300" i="1">
                <a:solidFill>
                  <a:srgbClr val="5A5A5A"/>
                </a:solidFill>
              </a:defRPr>
            </a:pPr>
            <a:r>
              <a:rPr dirty="0"/>
              <a:t>A third opinion emerges  but it's a narrow one</a:t>
            </a:r>
          </a:p>
        </p:txBody>
      </p:sp>
      <p:graphicFrame>
        <p:nvGraphicFramePr>
          <p:cNvPr id="19" name="Table 18"/>
          <p:cNvGraphicFramePr>
            <a:graphicFrameLocks noGrp="1"/>
          </p:cNvGraphicFramePr>
          <p:nvPr/>
        </p:nvGraphicFramePr>
        <p:xfrm>
          <a:off x="548640" y="1645920"/>
          <a:ext cx="5852160" cy="2834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04948">
                <a:tc>
                  <a:txBody>
                    <a:bodyPr/>
                    <a:lstStyle/>
                    <a:p>
                      <a:pPr>
                        <a:defRPr sz="1200" b="1">
                          <a:solidFill>
                            <a:srgbClr val="FFFFFF"/>
                          </a:solidFill>
                        </a:defRPr>
                      </a:pPr>
                      <a:r>
                        <a:t>Criterion</a:t>
                      </a:r>
                    </a:p>
                  </a:txBody>
                  <a:tcPr>
                    <a:solidFill>
                      <a:srgbClr val="1B2A4A"/>
                    </a:solidFill>
                  </a:tcPr>
                </a:tc>
                <a:tc>
                  <a:txBody>
                    <a:bodyPr/>
                    <a:lstStyle/>
                    <a:p>
                      <a:pPr>
                        <a:defRPr sz="1200" b="1">
                          <a:solidFill>
                            <a:srgbClr val="FFFFFF"/>
                          </a:solidFill>
                        </a:defRPr>
                      </a:pPr>
                      <a:r>
                        <a:t>Zero</a:t>
                      </a:r>
                    </a:p>
                  </a:txBody>
                  <a:tcPr>
                    <a:solidFill>
                      <a:srgbClr val="1B2A4A"/>
                    </a:solidFill>
                  </a:tcPr>
                </a:tc>
                <a:tc>
                  <a:txBody>
                    <a:bodyPr/>
                    <a:lstStyle/>
                    <a:p>
                      <a:pPr>
                        <a:defRPr sz="1200" b="1">
                          <a:solidFill>
                            <a:srgbClr val="FFFFFF"/>
                          </a:solidFill>
                        </a:defRPr>
                      </a:pPr>
                      <a:r>
                        <a:t>Few</a:t>
                      </a:r>
                    </a:p>
                  </a:txBody>
                  <a:tcPr>
                    <a:solidFill>
                      <a:srgbClr val="1B2A4A"/>
                    </a:solidFill>
                  </a:tcPr>
                </a:tc>
                <a:tc>
                  <a:txBody>
                    <a:bodyPr/>
                    <a:lstStyle/>
                    <a:p>
                      <a:pPr>
                        <a:defRPr sz="1200" b="1">
                          <a:solidFill>
                            <a:srgbClr val="FFFFFF"/>
                          </a:solidFill>
                        </a:defRPr>
                      </a:pPr>
                      <a:r>
                        <a:t>CoT</a:t>
                      </a:r>
                    </a:p>
                  </a:txBody>
                  <a:tcPr>
                    <a:solidFill>
                      <a:srgbClr val="1B2A4A"/>
                    </a:solidFill>
                  </a:tcPr>
                </a:tc>
                <a:extLst>
                  <a:ext uri="{0D108BD9-81ED-4DB2-BD59-A6C34878D82A}">
                    <a16:rowId xmlns:a16="http://schemas.microsoft.com/office/drawing/2014/main" val="10000"/>
                  </a:ext>
                </a:extLst>
              </a:tr>
              <a:tr h="404948">
                <a:tc>
                  <a:txBody>
                    <a:bodyPr/>
                    <a:lstStyle/>
                    <a:p>
                      <a:pPr>
                        <a:defRPr sz="1200"/>
                      </a:pPr>
                      <a:r>
                        <a:t>Factuality</a:t>
                      </a:r>
                    </a:p>
                  </a:txBody>
                  <a:tcPr>
                    <a:solidFill>
                      <a:srgbClr val="FFFFFF"/>
                    </a:solidFill>
                  </a:tcPr>
                </a:tc>
                <a:tc>
                  <a:txBody>
                    <a:bodyPr/>
                    <a:lstStyle/>
                    <a:p>
                      <a:pPr>
                        <a:defRPr sz="1200"/>
                      </a:pPr>
                      <a:r>
                        <a:t>2.3</a:t>
                      </a:r>
                    </a:p>
                  </a:txBody>
                  <a:tcPr>
                    <a:solidFill>
                      <a:srgbClr val="FFFFFF"/>
                    </a:solidFill>
                  </a:tcPr>
                </a:tc>
                <a:tc>
                  <a:txBody>
                    <a:bodyPr/>
                    <a:lstStyle/>
                    <a:p>
                      <a:pPr>
                        <a:defRPr sz="1200"/>
                      </a:pPr>
                      <a:r>
                        <a:t>1.9</a:t>
                      </a:r>
                    </a:p>
                  </a:txBody>
                  <a:tcPr>
                    <a:solidFill>
                      <a:srgbClr val="FFFFFF"/>
                    </a:solidFill>
                  </a:tcPr>
                </a:tc>
                <a:tc>
                  <a:txBody>
                    <a:bodyPr/>
                    <a:lstStyle/>
                    <a:p>
                      <a:pPr>
                        <a:defRPr sz="1200"/>
                      </a:pPr>
                      <a:r>
                        <a:t>2.4</a:t>
                      </a:r>
                    </a:p>
                  </a:txBody>
                  <a:tcPr>
                    <a:solidFill>
                      <a:srgbClr val="FFFFFF"/>
                    </a:solidFill>
                  </a:tcPr>
                </a:tc>
                <a:extLst>
                  <a:ext uri="{0D108BD9-81ED-4DB2-BD59-A6C34878D82A}">
                    <a16:rowId xmlns:a16="http://schemas.microsoft.com/office/drawing/2014/main" val="10001"/>
                  </a:ext>
                </a:extLst>
              </a:tr>
              <a:tr h="404948">
                <a:tc>
                  <a:txBody>
                    <a:bodyPr/>
                    <a:lstStyle/>
                    <a:p>
                      <a:pPr>
                        <a:defRPr sz="1200"/>
                      </a:pPr>
                      <a:r>
                        <a:t>Coverage</a:t>
                      </a:r>
                    </a:p>
                  </a:txBody>
                  <a:tcPr>
                    <a:solidFill>
                      <a:srgbClr val="FFFFFF"/>
                    </a:solidFill>
                  </a:tcPr>
                </a:tc>
                <a:tc>
                  <a:txBody>
                    <a:bodyPr/>
                    <a:lstStyle/>
                    <a:p>
                      <a:pPr>
                        <a:defRPr sz="1200"/>
                      </a:pPr>
                      <a:r>
                        <a:t>2.2</a:t>
                      </a:r>
                    </a:p>
                  </a:txBody>
                  <a:tcPr>
                    <a:solidFill>
                      <a:srgbClr val="FFFFFF"/>
                    </a:solidFill>
                  </a:tcPr>
                </a:tc>
                <a:tc>
                  <a:txBody>
                    <a:bodyPr/>
                    <a:lstStyle/>
                    <a:p>
                      <a:pPr>
                        <a:defRPr sz="1200"/>
                      </a:pPr>
                      <a:r>
                        <a:t>2.3</a:t>
                      </a:r>
                    </a:p>
                  </a:txBody>
                  <a:tcPr>
                    <a:solidFill>
                      <a:srgbClr val="FFFFFF"/>
                    </a:solidFill>
                  </a:tcPr>
                </a:tc>
                <a:tc>
                  <a:txBody>
                    <a:bodyPr/>
                    <a:lstStyle/>
                    <a:p>
                      <a:pPr>
                        <a:defRPr sz="1200"/>
                      </a:pPr>
                      <a:r>
                        <a:t>2.5</a:t>
                      </a:r>
                    </a:p>
                  </a:txBody>
                  <a:tcPr>
                    <a:solidFill>
                      <a:srgbClr val="FFFFFF"/>
                    </a:solidFill>
                  </a:tcPr>
                </a:tc>
                <a:extLst>
                  <a:ext uri="{0D108BD9-81ED-4DB2-BD59-A6C34878D82A}">
                    <a16:rowId xmlns:a16="http://schemas.microsoft.com/office/drawing/2014/main" val="10002"/>
                  </a:ext>
                </a:extLst>
              </a:tr>
              <a:tr h="404948">
                <a:tc>
                  <a:txBody>
                    <a:bodyPr/>
                    <a:lstStyle/>
                    <a:p>
                      <a:pPr>
                        <a:defRPr sz="1200"/>
                      </a:pPr>
                      <a:r>
                        <a:t>Legal Correctness</a:t>
                      </a:r>
                    </a:p>
                  </a:txBody>
                  <a:tcPr>
                    <a:solidFill>
                      <a:srgbClr val="FFFFFF"/>
                    </a:solidFill>
                  </a:tcPr>
                </a:tc>
                <a:tc>
                  <a:txBody>
                    <a:bodyPr/>
                    <a:lstStyle/>
                    <a:p>
                      <a:pPr>
                        <a:defRPr sz="1200"/>
                      </a:pPr>
                      <a:r>
                        <a:t>1.8</a:t>
                      </a:r>
                    </a:p>
                  </a:txBody>
                  <a:tcPr>
                    <a:solidFill>
                      <a:srgbClr val="FFFFFF"/>
                    </a:solidFill>
                  </a:tcPr>
                </a:tc>
                <a:tc>
                  <a:txBody>
                    <a:bodyPr/>
                    <a:lstStyle/>
                    <a:p>
                      <a:pPr>
                        <a:defRPr sz="1200">
                          <a:solidFill>
                            <a:srgbClr val="C0392B"/>
                          </a:solidFill>
                        </a:defRPr>
                      </a:pPr>
                      <a:r>
                        <a:t>1.6</a:t>
                      </a:r>
                    </a:p>
                  </a:txBody>
                  <a:tcPr>
                    <a:solidFill>
                      <a:srgbClr val="FFFFFF"/>
                    </a:solidFill>
                  </a:tcPr>
                </a:tc>
                <a:tc>
                  <a:txBody>
                    <a:bodyPr/>
                    <a:lstStyle/>
                    <a:p>
                      <a:pPr>
                        <a:defRPr sz="1200">
                          <a:solidFill>
                            <a:srgbClr val="C0392B"/>
                          </a:solidFill>
                        </a:defRPr>
                      </a:pPr>
                      <a:r>
                        <a:t>1.6</a:t>
                      </a:r>
                    </a:p>
                  </a:txBody>
                  <a:tcPr>
                    <a:solidFill>
                      <a:srgbClr val="FFFFFF"/>
                    </a:solidFill>
                  </a:tcPr>
                </a:tc>
                <a:extLst>
                  <a:ext uri="{0D108BD9-81ED-4DB2-BD59-A6C34878D82A}">
                    <a16:rowId xmlns:a16="http://schemas.microsoft.com/office/drawing/2014/main" val="10003"/>
                  </a:ext>
                </a:extLst>
              </a:tr>
              <a:tr h="404948">
                <a:tc>
                  <a:txBody>
                    <a:bodyPr/>
                    <a:lstStyle/>
                    <a:p>
                      <a:pPr>
                        <a:defRPr sz="1200"/>
                      </a:pPr>
                      <a:r>
                        <a:t>Faithfulness</a:t>
                      </a:r>
                    </a:p>
                  </a:txBody>
                  <a:tcPr>
                    <a:solidFill>
                      <a:srgbClr val="FFFFFF"/>
                    </a:solidFill>
                  </a:tcPr>
                </a:tc>
                <a:tc>
                  <a:txBody>
                    <a:bodyPr/>
                    <a:lstStyle/>
                    <a:p>
                      <a:pPr>
                        <a:defRPr sz="1200"/>
                      </a:pPr>
                      <a:r>
                        <a:t>2.2</a:t>
                      </a:r>
                    </a:p>
                  </a:txBody>
                  <a:tcPr>
                    <a:solidFill>
                      <a:srgbClr val="FFFFFF"/>
                    </a:solidFill>
                  </a:tcPr>
                </a:tc>
                <a:tc>
                  <a:txBody>
                    <a:bodyPr/>
                    <a:lstStyle/>
                    <a:p>
                      <a:pPr>
                        <a:defRPr sz="1200"/>
                      </a:pPr>
                      <a:r>
                        <a:t>2.1</a:t>
                      </a:r>
                    </a:p>
                  </a:txBody>
                  <a:tcPr>
                    <a:solidFill>
                      <a:srgbClr val="FFFFFF"/>
                    </a:solidFill>
                  </a:tcPr>
                </a:tc>
                <a:tc>
                  <a:txBody>
                    <a:bodyPr/>
                    <a:lstStyle/>
                    <a:p>
                      <a:pPr>
                        <a:defRPr sz="1200"/>
                      </a:pPr>
                      <a:r>
                        <a:t>2.4</a:t>
                      </a:r>
                    </a:p>
                  </a:txBody>
                  <a:tcPr>
                    <a:solidFill>
                      <a:srgbClr val="FFFFFF"/>
                    </a:solidFill>
                  </a:tcPr>
                </a:tc>
                <a:extLst>
                  <a:ext uri="{0D108BD9-81ED-4DB2-BD59-A6C34878D82A}">
                    <a16:rowId xmlns:a16="http://schemas.microsoft.com/office/drawing/2014/main" val="10004"/>
                  </a:ext>
                </a:extLst>
              </a:tr>
              <a:tr h="404948">
                <a:tc>
                  <a:txBody>
                    <a:bodyPr/>
                    <a:lstStyle/>
                    <a:p>
                      <a:pPr>
                        <a:defRPr sz="1200"/>
                      </a:pPr>
                      <a:r>
                        <a:t>Hindi Quality</a:t>
                      </a:r>
                    </a:p>
                  </a:txBody>
                  <a:tcPr>
                    <a:solidFill>
                      <a:srgbClr val="FFFFFF"/>
                    </a:solidFill>
                  </a:tcPr>
                </a:tc>
                <a:tc>
                  <a:txBody>
                    <a:bodyPr/>
                    <a:lstStyle/>
                    <a:p>
                      <a:pPr>
                        <a:defRPr sz="1200"/>
                      </a:pPr>
                      <a:r>
                        <a:t>2.5</a:t>
                      </a:r>
                    </a:p>
                  </a:txBody>
                  <a:tcPr>
                    <a:solidFill>
                      <a:srgbClr val="FFFFFF"/>
                    </a:solidFill>
                  </a:tcPr>
                </a:tc>
                <a:tc>
                  <a:txBody>
                    <a:bodyPr/>
                    <a:lstStyle/>
                    <a:p>
                      <a:pPr>
                        <a:defRPr sz="1200"/>
                      </a:pPr>
                      <a:r>
                        <a:t>2.1</a:t>
                      </a:r>
                    </a:p>
                  </a:txBody>
                  <a:tcPr>
                    <a:solidFill>
                      <a:srgbClr val="FFFFFF"/>
                    </a:solidFill>
                  </a:tcPr>
                </a:tc>
                <a:tc>
                  <a:txBody>
                    <a:bodyPr/>
                    <a:lstStyle/>
                    <a:p>
                      <a:pPr>
                        <a:defRPr sz="1200"/>
                      </a:pPr>
                      <a:r>
                        <a:t>2.3</a:t>
                      </a:r>
                    </a:p>
                  </a:txBody>
                  <a:tcPr>
                    <a:solidFill>
                      <a:srgbClr val="FFFFFF"/>
                    </a:solidFill>
                  </a:tcPr>
                </a:tc>
                <a:extLst>
                  <a:ext uri="{0D108BD9-81ED-4DB2-BD59-A6C34878D82A}">
                    <a16:rowId xmlns:a16="http://schemas.microsoft.com/office/drawing/2014/main" val="10005"/>
                  </a:ext>
                </a:extLst>
              </a:tr>
              <a:tr h="404952">
                <a:tc>
                  <a:txBody>
                    <a:bodyPr/>
                    <a:lstStyle/>
                    <a:p>
                      <a:pPr>
                        <a:defRPr sz="1200" b="1"/>
                      </a:pPr>
                      <a:r>
                        <a:t>Overall</a:t>
                      </a:r>
                    </a:p>
                  </a:txBody>
                  <a:tcPr>
                    <a:solidFill>
                      <a:srgbClr val="EAF1FB"/>
                    </a:solidFill>
                  </a:tcPr>
                </a:tc>
                <a:tc>
                  <a:txBody>
                    <a:bodyPr/>
                    <a:lstStyle/>
                    <a:p>
                      <a:pPr>
                        <a:defRPr sz="1200" b="1"/>
                      </a:pPr>
                      <a:r>
                        <a:t>2.18</a:t>
                      </a:r>
                    </a:p>
                  </a:txBody>
                  <a:tcPr>
                    <a:solidFill>
                      <a:srgbClr val="EAF1FB"/>
                    </a:solidFill>
                  </a:tcPr>
                </a:tc>
                <a:tc>
                  <a:txBody>
                    <a:bodyPr/>
                    <a:lstStyle/>
                    <a:p>
                      <a:pPr>
                        <a:defRPr sz="1200" b="1"/>
                      </a:pPr>
                      <a:r>
                        <a:t>1.98</a:t>
                      </a:r>
                    </a:p>
                  </a:txBody>
                  <a:tcPr>
                    <a:solidFill>
                      <a:srgbClr val="EAF1FB"/>
                    </a:solidFill>
                  </a:tcPr>
                </a:tc>
                <a:tc>
                  <a:txBody>
                    <a:bodyPr/>
                    <a:lstStyle/>
                    <a:p>
                      <a:pPr>
                        <a:defRPr sz="1200" b="1"/>
                      </a:pPr>
                      <a:r>
                        <a:t>2.24</a:t>
                      </a:r>
                    </a:p>
                  </a:txBody>
                  <a:tcPr>
                    <a:solidFill>
                      <a:srgbClr val="EAF1FB"/>
                    </a:solidFill>
                  </a:tcPr>
                </a:tc>
                <a:extLst>
                  <a:ext uri="{0D108BD9-81ED-4DB2-BD59-A6C34878D82A}">
                    <a16:rowId xmlns:a16="http://schemas.microsoft.com/office/drawing/2014/main" val="10006"/>
                  </a:ext>
                </a:extLst>
              </a:tr>
            </a:tbl>
          </a:graphicData>
        </a:graphic>
      </p:graphicFrame>
      <p:sp>
        <p:nvSpPr>
          <p:cNvPr id="20" name="Rounded Rectangle 19"/>
          <p:cNvSpPr/>
          <p:nvPr/>
        </p:nvSpPr>
        <p:spPr>
          <a:xfrm>
            <a:off x="548640" y="4663440"/>
            <a:ext cx="5852160" cy="118872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8" y="5010912"/>
            <a:ext cx="5632704" cy="507831"/>
          </a:xfrm>
          <a:prstGeom prst="rect">
            <a:avLst/>
          </a:prstGeom>
          <a:noFill/>
        </p:spPr>
        <p:txBody>
          <a:bodyPr wrap="square">
            <a:spAutoFit/>
          </a:bodyPr>
          <a:lstStyle/>
          <a:p>
            <a:pPr>
              <a:defRPr sz="1500" b="1">
                <a:solidFill>
                  <a:srgbClr val="1B2A4A"/>
                </a:solidFill>
              </a:defRPr>
            </a:pPr>
            <a:r>
              <a:rPr dirty="0" err="1"/>
              <a:t>CoT</a:t>
            </a:r>
            <a:r>
              <a:rPr dirty="0"/>
              <a:t> = 2.24  vs  Zero-shot = 2.18</a:t>
            </a:r>
          </a:p>
          <a:p>
            <a:pPr>
              <a:defRPr sz="1200" i="1">
                <a:solidFill>
                  <a:srgbClr val="5A5A5A"/>
                </a:solidFill>
              </a:defRPr>
            </a:pPr>
            <a:r>
              <a:rPr dirty="0"/>
              <a:t>A 0.06-point gap on n=10 </a:t>
            </a:r>
            <a:r>
              <a:rPr lang="en-IN" dirty="0"/>
              <a:t>it is</a:t>
            </a:r>
            <a:r>
              <a:rPr dirty="0"/>
              <a:t> a signal worth noting, not a verdict.</a:t>
            </a:r>
          </a:p>
        </p:txBody>
      </p:sp>
      <p:pic>
        <p:nvPicPr>
          <p:cNvPr id="22" name="Picture 21" descr="manual_criteria_breakdown.jpg"/>
          <p:cNvPicPr>
            <a:picLocks noChangeAspect="1"/>
          </p:cNvPicPr>
          <p:nvPr/>
        </p:nvPicPr>
        <p:blipFill>
          <a:blip r:embed="rId2"/>
          <a:stretch>
            <a:fillRect/>
          </a:stretch>
        </p:blipFill>
        <p:spPr>
          <a:xfrm>
            <a:off x="6583680" y="1890848"/>
            <a:ext cx="5074920" cy="3624942"/>
          </a:xfrm>
          <a:prstGeom prst="rect">
            <a:avLst/>
          </a:prstGeom>
        </p:spPr>
      </p:pic>
      <p:sp>
        <p:nvSpPr>
          <p:cNvPr id="23" name="Chevron 22"/>
          <p:cNvSpPr/>
          <p:nvPr/>
        </p:nvSpPr>
        <p:spPr>
          <a:xfrm>
            <a:off x="457200" y="6108192"/>
            <a:ext cx="274320" cy="329184"/>
          </a:xfrm>
          <a:prstGeom prst="chevron">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8" y="6089904"/>
            <a:ext cx="10607040" cy="384048"/>
          </a:xfrm>
          <a:prstGeom prst="rect">
            <a:avLst/>
          </a:prstGeom>
          <a:noFill/>
        </p:spPr>
        <p:txBody>
          <a:bodyPr wrap="square">
            <a:spAutoFit/>
          </a:bodyPr>
          <a:lstStyle/>
          <a:p>
            <a:pPr>
              <a:defRPr sz="1200" b="1" i="1">
                <a:solidFill>
                  <a:srgbClr val="2E86C1"/>
                </a:solidFill>
              </a:defRPr>
            </a:pPr>
            <a:r>
              <a:t>Now we have THREE rankings. To see why, we look inside the actual errors...</a:t>
            </a:r>
          </a:p>
        </p:txBody>
      </p:sp>
      <p:sp>
        <p:nvSpPr>
          <p:cNvPr id="25" name="TextBox 24"/>
          <p:cNvSpPr txBox="1"/>
          <p:nvPr/>
        </p:nvSpPr>
        <p:spPr>
          <a:xfrm>
            <a:off x="457200" y="6547104"/>
            <a:ext cx="6319359"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6/1</a:t>
            </a:r>
            <a:r>
              <a:rPr lang="en-IN" dirty="0"/>
              <a:t>2</a:t>
            </a:r>
            <a:endParaRPr dirty="0"/>
          </a:p>
        </p:txBody>
      </p:sp>
      <p:pic>
        <p:nvPicPr>
          <p:cNvPr id="27" name="Picture 26">
            <a:extLst>
              <a:ext uri="{FF2B5EF4-FFF2-40B4-BE49-F238E27FC236}">
                <a16:creationId xmlns:a16="http://schemas.microsoft.com/office/drawing/2014/main" id="{EAF06EB5-4350-B151-8304-F01B63A69BBB}"/>
              </a:ext>
            </a:extLst>
          </p:cNvPr>
          <p:cNvPicPr>
            <a:picLocks noChangeAspect="1"/>
          </p:cNvPicPr>
          <p:nvPr/>
        </p:nvPicPr>
        <p:blipFill>
          <a:blip r:embed="rId3"/>
          <a:stretch>
            <a:fillRect/>
          </a:stretch>
        </p:blipFill>
        <p:spPr>
          <a:xfrm>
            <a:off x="6583680" y="1628407"/>
            <a:ext cx="5280660" cy="43151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766560"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73952" y="484632"/>
            <a:ext cx="704088" cy="201168"/>
          </a:xfrm>
          <a:prstGeom prst="rect">
            <a:avLst/>
          </a:prstGeom>
          <a:noFill/>
        </p:spPr>
        <p:txBody>
          <a:bodyPr wrap="none">
            <a:spAutoFit/>
          </a:bodyPr>
          <a:lstStyle/>
          <a:p>
            <a:pPr algn="ctr">
              <a:defRPr sz="800" b="0">
                <a:solidFill>
                  <a:srgbClr val="5A5A5A"/>
                </a:solidFill>
              </a:defRPr>
            </a:pPr>
            <a:r>
              <a:t>Setup</a:t>
            </a:r>
          </a:p>
        </p:txBody>
      </p:sp>
      <p:sp>
        <p:nvSpPr>
          <p:cNvPr id="5" name="Rectangle 4"/>
          <p:cNvSpPr/>
          <p:nvPr/>
        </p:nvSpPr>
        <p:spPr>
          <a:xfrm>
            <a:off x="6885432"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54112"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61504" y="484632"/>
            <a:ext cx="704088" cy="201168"/>
          </a:xfrm>
          <a:prstGeom prst="rect">
            <a:avLst/>
          </a:prstGeom>
          <a:noFill/>
        </p:spPr>
        <p:txBody>
          <a:bodyPr wrap="none">
            <a:spAutoFit/>
          </a:bodyPr>
          <a:lstStyle/>
          <a:p>
            <a:pPr algn="ctr">
              <a:defRPr sz="800" b="0">
                <a:solidFill>
                  <a:srgbClr val="5A5A5A"/>
                </a:solidFill>
              </a:defRPr>
            </a:pPr>
            <a:r>
              <a:t>Automatic</a:t>
            </a:r>
          </a:p>
        </p:txBody>
      </p:sp>
      <p:sp>
        <p:nvSpPr>
          <p:cNvPr id="8" name="Rectangle 7"/>
          <p:cNvSpPr/>
          <p:nvPr/>
        </p:nvSpPr>
        <p:spPr>
          <a:xfrm>
            <a:off x="7872984"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41664" y="347472"/>
            <a:ext cx="118872" cy="118872"/>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49056" y="484632"/>
            <a:ext cx="704088" cy="201168"/>
          </a:xfrm>
          <a:prstGeom prst="rect">
            <a:avLst/>
          </a:prstGeom>
          <a:noFill/>
        </p:spPr>
        <p:txBody>
          <a:bodyPr wrap="none">
            <a:spAutoFit/>
          </a:bodyPr>
          <a:lstStyle/>
          <a:p>
            <a:pPr algn="ctr">
              <a:defRPr sz="800" b="1">
                <a:solidFill>
                  <a:srgbClr val="2E86C1"/>
                </a:solidFill>
              </a:defRPr>
            </a:pPr>
            <a:r>
              <a:t>Manual</a:t>
            </a:r>
          </a:p>
        </p:txBody>
      </p:sp>
      <p:sp>
        <p:nvSpPr>
          <p:cNvPr id="11" name="Rectangle 10"/>
          <p:cNvSpPr/>
          <p:nvPr/>
        </p:nvSpPr>
        <p:spPr>
          <a:xfrm>
            <a:off x="8860536"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729216"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36608" y="484632"/>
            <a:ext cx="704088" cy="201168"/>
          </a:xfrm>
          <a:prstGeom prst="rect">
            <a:avLst/>
          </a:prstGeom>
          <a:noFill/>
        </p:spPr>
        <p:txBody>
          <a:bodyPr wrap="none">
            <a:spAutoFit/>
          </a:bodyPr>
          <a:lstStyle/>
          <a:p>
            <a:pPr algn="ctr">
              <a:defRPr sz="800" b="0">
                <a:solidFill>
                  <a:srgbClr val="5A5A5A"/>
                </a:solidFill>
              </a:defRPr>
            </a:pPr>
            <a:r>
              <a:t>Cases</a:t>
            </a:r>
          </a:p>
        </p:txBody>
      </p:sp>
      <p:sp>
        <p:nvSpPr>
          <p:cNvPr id="14" name="Rectangle 13"/>
          <p:cNvSpPr/>
          <p:nvPr/>
        </p:nvSpPr>
        <p:spPr>
          <a:xfrm>
            <a:off x="9848088"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716768"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60" y="484632"/>
            <a:ext cx="704088" cy="201168"/>
          </a:xfrm>
          <a:prstGeom prst="rect">
            <a:avLst/>
          </a:prstGeom>
          <a:noFill/>
        </p:spPr>
        <p:txBody>
          <a:bodyPr wrap="none">
            <a:spAutoFit/>
          </a:bodyPr>
          <a:lstStyle/>
          <a:p>
            <a:pPr algn="ctr">
              <a:defRPr sz="800" b="0">
                <a:solidFill>
                  <a:srgbClr val="5A5A5A"/>
                </a:solidFill>
              </a:defRPr>
            </a:pPr>
            <a:r>
              <a:t>Verdict</a:t>
            </a:r>
          </a:p>
        </p:txBody>
      </p:sp>
      <p:sp>
        <p:nvSpPr>
          <p:cNvPr id="17" name="TextBox 16"/>
          <p:cNvSpPr txBox="1"/>
          <p:nvPr/>
        </p:nvSpPr>
        <p:spPr>
          <a:xfrm>
            <a:off x="457200" y="274320"/>
            <a:ext cx="11247120" cy="685800"/>
          </a:xfrm>
          <a:prstGeom prst="rect">
            <a:avLst/>
          </a:prstGeom>
          <a:noFill/>
        </p:spPr>
        <p:txBody>
          <a:bodyPr wrap="square">
            <a:spAutoFit/>
          </a:bodyPr>
          <a:lstStyle/>
          <a:p>
            <a:pPr>
              <a:defRPr sz="2600" b="1">
                <a:solidFill>
                  <a:srgbClr val="1B2A4A"/>
                </a:solidFill>
              </a:defRPr>
            </a:pPr>
            <a:r>
              <a:t>Error Analysis</a:t>
            </a:r>
          </a:p>
        </p:txBody>
      </p:sp>
      <p:sp>
        <p:nvSpPr>
          <p:cNvPr id="18" name="TextBox 17"/>
          <p:cNvSpPr txBox="1"/>
          <p:nvPr/>
        </p:nvSpPr>
        <p:spPr>
          <a:xfrm>
            <a:off x="457200" y="749808"/>
            <a:ext cx="11247120" cy="320040"/>
          </a:xfrm>
          <a:prstGeom prst="rect">
            <a:avLst/>
          </a:prstGeom>
          <a:noFill/>
        </p:spPr>
        <p:txBody>
          <a:bodyPr wrap="square">
            <a:spAutoFit/>
          </a:bodyPr>
          <a:lstStyle/>
          <a:p>
            <a:pPr>
              <a:defRPr sz="1300" i="1">
                <a:solidFill>
                  <a:srgbClr val="5A5A5A"/>
                </a:solidFill>
              </a:defRPr>
            </a:pPr>
            <a:r>
              <a:t>Zooming in: what kinds of mistakes actually happen?</a:t>
            </a:r>
          </a:p>
        </p:txBody>
      </p:sp>
      <p:pic>
        <p:nvPicPr>
          <p:cNvPr id="19" name="Picture 18" descr="error_frequency.jpg"/>
          <p:cNvPicPr>
            <a:picLocks noChangeAspect="1"/>
          </p:cNvPicPr>
          <p:nvPr/>
        </p:nvPicPr>
        <p:blipFill>
          <a:blip r:embed="rId2"/>
          <a:stretch>
            <a:fillRect/>
          </a:stretch>
        </p:blipFill>
        <p:spPr>
          <a:xfrm>
            <a:off x="841247" y="1645920"/>
            <a:ext cx="5632704" cy="4023360"/>
          </a:xfrm>
          <a:prstGeom prst="rect">
            <a:avLst/>
          </a:prstGeom>
        </p:spPr>
      </p:pic>
      <p:sp>
        <p:nvSpPr>
          <p:cNvPr id="20" name="TextBox 19"/>
          <p:cNvSpPr txBox="1"/>
          <p:nvPr/>
        </p:nvSpPr>
        <p:spPr>
          <a:xfrm>
            <a:off x="7040880" y="1783080"/>
            <a:ext cx="4572000" cy="2613921"/>
          </a:xfrm>
          <a:prstGeom prst="rect">
            <a:avLst/>
          </a:prstGeom>
          <a:noFill/>
        </p:spPr>
        <p:txBody>
          <a:bodyPr wrap="square">
            <a:spAutoFit/>
          </a:bodyPr>
          <a:lstStyle/>
          <a:p>
            <a:pPr>
              <a:lnSpc>
                <a:spcPct val="115000"/>
              </a:lnSpc>
              <a:spcAft>
                <a:spcPts val="800"/>
              </a:spcAft>
              <a:defRPr sz="1200">
                <a:solidFill>
                  <a:srgbClr val="222222"/>
                </a:solidFill>
              </a:defRPr>
            </a:pPr>
            <a:r>
              <a:rPr dirty="0"/>
              <a:t>•  Hallucination: 60% Zero-shot, 67% (6/9) Few-shot, 30% Structured </a:t>
            </a:r>
            <a:r>
              <a:rPr dirty="0" err="1"/>
              <a:t>CoT</a:t>
            </a:r>
            <a:r>
              <a:rPr dirty="0"/>
              <a:t>.</a:t>
            </a:r>
          </a:p>
          <a:p>
            <a:pPr>
              <a:lnSpc>
                <a:spcPct val="115000"/>
              </a:lnSpc>
              <a:spcAft>
                <a:spcPts val="800"/>
              </a:spcAft>
              <a:defRPr sz="1200">
                <a:solidFill>
                  <a:srgbClr val="222222"/>
                </a:solidFill>
              </a:defRPr>
            </a:pPr>
            <a:r>
              <a:rPr dirty="0"/>
              <a:t>•  Wrong facts: 90% Zero-shot, 89% (8/9) Few-shot, 70% </a:t>
            </a:r>
            <a:r>
              <a:rPr dirty="0" err="1"/>
              <a:t>CoT</a:t>
            </a:r>
            <a:r>
              <a:rPr dirty="0"/>
              <a:t> </a:t>
            </a:r>
            <a:r>
              <a:rPr lang="en-IN" dirty="0"/>
              <a:t>,</a:t>
            </a:r>
            <a:r>
              <a:rPr dirty="0"/>
              <a:t> near-universal.</a:t>
            </a:r>
          </a:p>
          <a:p>
            <a:pPr>
              <a:lnSpc>
                <a:spcPct val="115000"/>
              </a:lnSpc>
              <a:spcAft>
                <a:spcPts val="800"/>
              </a:spcAft>
              <a:defRPr sz="1200">
                <a:solidFill>
                  <a:srgbClr val="222222"/>
                </a:solidFill>
              </a:defRPr>
            </a:pPr>
            <a:r>
              <a:rPr dirty="0"/>
              <a:t>•  Incorrect terminology &amp; translation errors: ~90-100% across ALL methods.</a:t>
            </a:r>
          </a:p>
          <a:p>
            <a:pPr>
              <a:lnSpc>
                <a:spcPct val="115000"/>
              </a:lnSpc>
              <a:spcAft>
                <a:spcPts val="800"/>
              </a:spcAft>
              <a:defRPr sz="1200">
                <a:solidFill>
                  <a:srgbClr val="222222"/>
                </a:solidFill>
              </a:defRPr>
            </a:pPr>
            <a:r>
              <a:rPr dirty="0"/>
              <a:t>•  Few-shot had one generation failure (Sample 5); its error rates are computed over 9 valid outputs, not 10.</a:t>
            </a:r>
          </a:p>
          <a:p>
            <a:pPr>
              <a:lnSpc>
                <a:spcPct val="115000"/>
              </a:lnSpc>
              <a:spcAft>
                <a:spcPts val="800"/>
              </a:spcAft>
              <a:defRPr sz="1200">
                <a:solidFill>
                  <a:srgbClr val="222222"/>
                </a:solidFill>
              </a:defRPr>
            </a:pPr>
            <a:r>
              <a:rPr dirty="0"/>
              <a:t>•  </a:t>
            </a:r>
            <a:r>
              <a:rPr dirty="0" err="1"/>
              <a:t>CoT's</a:t>
            </a:r>
            <a:r>
              <a:rPr dirty="0"/>
              <a:t> 100% important-omission rate reflects a strict binary rule (flag if ANY key point is missing)  not zero retention.</a:t>
            </a:r>
          </a:p>
        </p:txBody>
      </p:sp>
      <p:sp>
        <p:nvSpPr>
          <p:cNvPr id="21" name="Rounded Rectangle 20"/>
          <p:cNvSpPr/>
          <p:nvPr/>
        </p:nvSpPr>
        <p:spPr>
          <a:xfrm>
            <a:off x="457200" y="5897880"/>
            <a:ext cx="11155680" cy="54864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9120" y="5563366"/>
            <a:ext cx="10850880" cy="292388"/>
          </a:xfrm>
          <a:prstGeom prst="rect">
            <a:avLst/>
          </a:prstGeom>
          <a:noFill/>
        </p:spPr>
        <p:txBody>
          <a:bodyPr wrap="square">
            <a:spAutoFit/>
          </a:bodyPr>
          <a:lstStyle/>
          <a:p>
            <a:pPr>
              <a:defRPr sz="1300" b="1">
                <a:solidFill>
                  <a:srgbClr val="C0392B"/>
                </a:solidFill>
              </a:defRPr>
            </a:pPr>
            <a:r>
              <a:rPr dirty="0"/>
              <a:t>Critical legal errors remain common across all three strategies, even where automatic similarity looks reasonable.</a:t>
            </a:r>
          </a:p>
        </p:txBody>
      </p:sp>
      <p:sp>
        <p:nvSpPr>
          <p:cNvPr id="23" name="Chevron 22"/>
          <p:cNvSpPr/>
          <p:nvPr/>
        </p:nvSpPr>
        <p:spPr>
          <a:xfrm>
            <a:off x="457200" y="6108192"/>
            <a:ext cx="274320" cy="329184"/>
          </a:xfrm>
          <a:prstGeom prst="chevron">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6080541"/>
            <a:ext cx="11170768" cy="276999"/>
          </a:xfrm>
          <a:prstGeom prst="rect">
            <a:avLst/>
          </a:prstGeom>
          <a:noFill/>
        </p:spPr>
        <p:txBody>
          <a:bodyPr wrap="square">
            <a:spAutoFit/>
          </a:bodyPr>
          <a:lstStyle/>
          <a:p>
            <a:pPr>
              <a:defRPr sz="1200" b="1" i="1">
                <a:solidFill>
                  <a:srgbClr val="2E86C1"/>
                </a:solidFill>
              </a:defRPr>
            </a:pPr>
            <a:r>
              <a:rPr dirty="0"/>
              <a:t>These percentages aren't abstract — here's exactly what they look like in three real cases...</a:t>
            </a:r>
          </a:p>
        </p:txBody>
      </p:sp>
      <p:sp>
        <p:nvSpPr>
          <p:cNvPr id="25" name="TextBox 24"/>
          <p:cNvSpPr txBox="1"/>
          <p:nvPr/>
        </p:nvSpPr>
        <p:spPr>
          <a:xfrm>
            <a:off x="457200" y="6547104"/>
            <a:ext cx="6319359"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7/1</a:t>
            </a:r>
            <a:r>
              <a:rPr lang="en-IN" dirty="0"/>
              <a:t>2</a:t>
            </a:r>
            <a:endParaRPr dirty="0"/>
          </a:p>
        </p:txBody>
      </p:sp>
      <p:pic>
        <p:nvPicPr>
          <p:cNvPr id="27" name="Picture 26">
            <a:extLst>
              <a:ext uri="{FF2B5EF4-FFF2-40B4-BE49-F238E27FC236}">
                <a16:creationId xmlns:a16="http://schemas.microsoft.com/office/drawing/2014/main" id="{6955A39A-3E2C-C085-1538-F6F2A9EC6E92}"/>
              </a:ext>
            </a:extLst>
          </p:cNvPr>
          <p:cNvPicPr>
            <a:picLocks noChangeAspect="1"/>
          </p:cNvPicPr>
          <p:nvPr/>
        </p:nvPicPr>
        <p:blipFill>
          <a:blip r:embed="rId3"/>
          <a:stretch>
            <a:fillRect/>
          </a:stretch>
        </p:blipFill>
        <p:spPr>
          <a:xfrm>
            <a:off x="457200" y="1294634"/>
            <a:ext cx="6089260" cy="43784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5670E76-EEBE-09BD-F11C-7C441898D616}"/>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a:extLst>
              <a:ext uri="{FF2B5EF4-FFF2-40B4-BE49-F238E27FC236}">
                <a16:creationId xmlns:a16="http://schemas.microsoft.com/office/drawing/2014/main" id="{62635022-36AA-E7DA-66B9-4DBAFC09778A}"/>
              </a:ext>
            </a:extLst>
          </p:cNvPr>
          <p:cNvSpPr txBox="1"/>
          <p:nvPr/>
        </p:nvSpPr>
        <p:spPr>
          <a:xfrm>
            <a:off x="457200" y="274320"/>
            <a:ext cx="11247120" cy="640080"/>
          </a:xfrm>
          <a:prstGeom prst="rect">
            <a:avLst/>
          </a:prstGeom>
          <a:noFill/>
        </p:spPr>
        <p:txBody>
          <a:bodyPr wrap="square">
            <a:spAutoFit/>
          </a:bodyPr>
          <a:lstStyle/>
          <a:p>
            <a:pPr>
              <a:defRPr sz="2600" b="1">
                <a:solidFill>
                  <a:srgbClr val="1B2A4A"/>
                </a:solidFill>
              </a:defRPr>
            </a:pPr>
            <a:r>
              <a:t>Case Study: Sample 7 — A Clear Winner</a:t>
            </a:r>
          </a:p>
        </p:txBody>
      </p:sp>
      <p:sp>
        <p:nvSpPr>
          <p:cNvPr id="7" name="TextBox 6">
            <a:extLst>
              <a:ext uri="{FF2B5EF4-FFF2-40B4-BE49-F238E27FC236}">
                <a16:creationId xmlns:a16="http://schemas.microsoft.com/office/drawing/2014/main" id="{105D246E-360F-90BA-C8FB-5AF2367EC015}"/>
              </a:ext>
            </a:extLst>
          </p:cNvPr>
          <p:cNvSpPr txBox="1"/>
          <p:nvPr/>
        </p:nvSpPr>
        <p:spPr>
          <a:xfrm>
            <a:off x="457200" y="777240"/>
            <a:ext cx="11247120" cy="320040"/>
          </a:xfrm>
          <a:prstGeom prst="rect">
            <a:avLst/>
          </a:prstGeom>
          <a:noFill/>
        </p:spPr>
        <p:txBody>
          <a:bodyPr wrap="square">
            <a:spAutoFit/>
          </a:bodyPr>
          <a:lstStyle/>
          <a:p>
            <a:pPr>
              <a:defRPr sz="1400" i="1">
                <a:solidFill>
                  <a:srgbClr val="5A5A5A"/>
                </a:solidFill>
              </a:defRPr>
            </a:pPr>
            <a:r>
              <a:t>One prompting method clearly performs better on this case</a:t>
            </a:r>
          </a:p>
        </p:txBody>
      </p:sp>
      <p:sp>
        <p:nvSpPr>
          <p:cNvPr id="9" name="Rounded Rectangle 4">
            <a:extLst>
              <a:ext uri="{FF2B5EF4-FFF2-40B4-BE49-F238E27FC236}">
                <a16:creationId xmlns:a16="http://schemas.microsoft.com/office/drawing/2014/main" id="{1B66297C-233A-D020-9F16-53170F5CD56B}"/>
              </a:ext>
            </a:extLst>
          </p:cNvPr>
          <p:cNvSpPr/>
          <p:nvPr/>
        </p:nvSpPr>
        <p:spPr>
          <a:xfrm>
            <a:off x="9537192" y="329184"/>
            <a:ext cx="2011680" cy="411480"/>
          </a:xfrm>
          <a:prstGeom prst="round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rPr dirty="0"/>
              <a:t>CLEAR WINNER</a:t>
            </a:r>
          </a:p>
        </p:txBody>
      </p:sp>
      <p:sp>
        <p:nvSpPr>
          <p:cNvPr id="11" name="Rounded Rectangle 5">
            <a:extLst>
              <a:ext uri="{FF2B5EF4-FFF2-40B4-BE49-F238E27FC236}">
                <a16:creationId xmlns:a16="http://schemas.microsoft.com/office/drawing/2014/main" id="{F3F1D398-C640-F2E2-FBFA-FEDC53366E18}"/>
              </a:ext>
            </a:extLst>
          </p:cNvPr>
          <p:cNvSpPr/>
          <p:nvPr/>
        </p:nvSpPr>
        <p:spPr>
          <a:xfrm>
            <a:off x="457200" y="1371600"/>
            <a:ext cx="1371600" cy="310896"/>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REFERENCE (Judgment)</a:t>
            </a:r>
          </a:p>
        </p:txBody>
      </p:sp>
      <p:sp>
        <p:nvSpPr>
          <p:cNvPr id="13" name="Rounded Rectangle 6">
            <a:extLst>
              <a:ext uri="{FF2B5EF4-FFF2-40B4-BE49-F238E27FC236}">
                <a16:creationId xmlns:a16="http://schemas.microsoft.com/office/drawing/2014/main" id="{CD6B014A-656D-1F22-86F6-419EC64D7AC6}"/>
              </a:ext>
            </a:extLst>
          </p:cNvPr>
          <p:cNvSpPr/>
          <p:nvPr/>
        </p:nvSpPr>
        <p:spPr>
          <a:xfrm>
            <a:off x="457200" y="1719072"/>
            <a:ext cx="11292840" cy="493776"/>
          </a:xfrm>
          <a:prstGeom prst="roundRect">
            <a:avLst/>
          </a:prstGeom>
          <a:solidFill>
            <a:srgbClr val="FFFFFF"/>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पंजाब और हरियाणा हाईकोर्ट ने बिना पर्याप्त आधार के लगातार जमानत आवेदन दाखिल करने की प्रैक्टिस का विरोध किया — यह दूसरा अग्रिम जमानत आवेदन है, कोई नई परिस्थिति नहीं दी गई। कोर्ट ने कहा कि इससे अदालत का समय बर्बाद होता है और प्रक्रिया का दुरुपयोग होता है।</a:t>
            </a:r>
          </a:p>
        </p:txBody>
      </p:sp>
      <p:sp>
        <p:nvSpPr>
          <p:cNvPr id="15" name="Rounded Rectangle 7">
            <a:extLst>
              <a:ext uri="{FF2B5EF4-FFF2-40B4-BE49-F238E27FC236}">
                <a16:creationId xmlns:a16="http://schemas.microsoft.com/office/drawing/2014/main" id="{A03C2D9B-D574-AA8A-7A5D-D8AB9621C5E2}"/>
              </a:ext>
            </a:extLst>
          </p:cNvPr>
          <p:cNvSpPr/>
          <p:nvPr/>
        </p:nvSpPr>
        <p:spPr>
          <a:xfrm>
            <a:off x="457200" y="2331720"/>
            <a:ext cx="1371600" cy="310896"/>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ZERO-SHOT</a:t>
            </a:r>
          </a:p>
        </p:txBody>
      </p:sp>
      <p:sp>
        <p:nvSpPr>
          <p:cNvPr id="17" name="Rounded Rectangle 8">
            <a:extLst>
              <a:ext uri="{FF2B5EF4-FFF2-40B4-BE49-F238E27FC236}">
                <a16:creationId xmlns:a16="http://schemas.microsoft.com/office/drawing/2014/main" id="{44E11FBA-0101-35E0-A436-8D39818F4EDA}"/>
              </a:ext>
            </a:extLst>
          </p:cNvPr>
          <p:cNvSpPr/>
          <p:nvPr/>
        </p:nvSpPr>
        <p:spPr>
          <a:xfrm>
            <a:off x="457200" y="2679191"/>
            <a:ext cx="11292840" cy="493776"/>
          </a:xfrm>
          <a:prstGeom prst="roundRect">
            <a:avLst/>
          </a:prstGeom>
          <a:solidFill>
            <a:srgbClr val="FFFFFF"/>
          </a:solidFill>
          <a:ln w="9525">
            <a:solidFill>
              <a:srgbClr val="2E86C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CrPC धारा 438 के तहत अग्रिम जमानत का दूसरा आवेदन (FIR 134, दि. 08.03.2021), जिसमें IPC धारा 420, 467, 468, 471 और 120-B का उल्लेख है। पहले, अतिरिक्त सेशन जज पानीपत ने 06.01.2022 को आवेदन खारिज किया; बाद में याचिका वापस ली गई और 10 दिनों में पुलिस के सामने पेश होने का वादा किया गया था।</a:t>
            </a:r>
          </a:p>
        </p:txBody>
      </p:sp>
      <p:sp>
        <p:nvSpPr>
          <p:cNvPr id="19" name="Rounded Rectangle 9">
            <a:extLst>
              <a:ext uri="{FF2B5EF4-FFF2-40B4-BE49-F238E27FC236}">
                <a16:creationId xmlns:a16="http://schemas.microsoft.com/office/drawing/2014/main" id="{4E25193F-5FCB-4C33-A521-20C36F7C7E97}"/>
              </a:ext>
            </a:extLst>
          </p:cNvPr>
          <p:cNvSpPr/>
          <p:nvPr/>
        </p:nvSpPr>
        <p:spPr>
          <a:xfrm>
            <a:off x="457200" y="3291840"/>
            <a:ext cx="1371600" cy="310896"/>
          </a:xfrm>
          <a:prstGeom prst="roundRect">
            <a:avLst/>
          </a:prstGeom>
          <a:solidFill>
            <a:srgbClr val="B9770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FEW-SHOT</a:t>
            </a:r>
          </a:p>
        </p:txBody>
      </p:sp>
      <p:sp>
        <p:nvSpPr>
          <p:cNvPr id="21" name="Rounded Rectangle 10">
            <a:extLst>
              <a:ext uri="{FF2B5EF4-FFF2-40B4-BE49-F238E27FC236}">
                <a16:creationId xmlns:a16="http://schemas.microsoft.com/office/drawing/2014/main" id="{ACE517D3-16F2-CEE7-B4D2-5326CF68E774}"/>
              </a:ext>
            </a:extLst>
          </p:cNvPr>
          <p:cNvSpPr/>
          <p:nvPr/>
        </p:nvSpPr>
        <p:spPr>
          <a:xfrm>
            <a:off x="457200" y="3639312"/>
            <a:ext cx="11292840" cy="493776"/>
          </a:xfrm>
          <a:prstGeom prst="roundRect">
            <a:avLst/>
          </a:prstGeom>
          <a:solidFill>
            <a:srgbClr val="FFFFFF"/>
          </a:solidFill>
          <a:ln w="9525">
            <a:solidFill>
              <a:srgbClr val="B9770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पीटीशनर ने CrPC धारा 438 के तहत जमानत का दूसरा आवेदन दायर किया। पहला आवेदन वापस लिया गया था क्योंकि 10 दिनों में पुलिस के सामने पेश होने का वादा किया था; वादे का पालन नहीं हुआ, फिर भी कोई नया कारण न होने पर दूसरा आवेदन दायर हुआ।</a:t>
            </a:r>
          </a:p>
        </p:txBody>
      </p:sp>
      <p:sp>
        <p:nvSpPr>
          <p:cNvPr id="23" name="Rounded Rectangle 11">
            <a:extLst>
              <a:ext uri="{FF2B5EF4-FFF2-40B4-BE49-F238E27FC236}">
                <a16:creationId xmlns:a16="http://schemas.microsoft.com/office/drawing/2014/main" id="{901695C8-B2E8-DD37-6B3D-A52DD6536BF3}"/>
              </a:ext>
            </a:extLst>
          </p:cNvPr>
          <p:cNvSpPr/>
          <p:nvPr/>
        </p:nvSpPr>
        <p:spPr>
          <a:xfrm>
            <a:off x="457200" y="4251960"/>
            <a:ext cx="1371600" cy="310896"/>
          </a:xfrm>
          <a:prstGeom prst="round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STRUCTURED CoT</a:t>
            </a:r>
          </a:p>
        </p:txBody>
      </p:sp>
      <p:sp>
        <p:nvSpPr>
          <p:cNvPr id="25" name="Rounded Rectangle 12">
            <a:extLst>
              <a:ext uri="{FF2B5EF4-FFF2-40B4-BE49-F238E27FC236}">
                <a16:creationId xmlns:a16="http://schemas.microsoft.com/office/drawing/2014/main" id="{97C24237-0EB6-1A0A-DB22-01409DE09AF5}"/>
              </a:ext>
            </a:extLst>
          </p:cNvPr>
          <p:cNvSpPr/>
          <p:nvPr/>
        </p:nvSpPr>
        <p:spPr>
          <a:xfrm>
            <a:off x="457200" y="4599432"/>
            <a:ext cx="11292840" cy="493776"/>
          </a:xfrm>
          <a:prstGeom prst="roundRect">
            <a:avLst/>
          </a:prstGeom>
          <a:solidFill>
            <a:srgbClr val="FFFFFF"/>
          </a:solidFill>
          <a:ln w="9525">
            <a:solidFill>
              <a:srgbClr val="1E8E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FACTS: पेटिशनर ने धारा 438 के तहत फिर से अग्रिम जमानत मांगी। पहले अतिरिक्त सेशन जज पानीपत ने 06.01.2022 को इसी मामले (FIR 134) में जमानत का विरोध किया। LEGAL ISSUE: क्या बिना नई परिस्थिति के दूसरा अग्रिम जमानत आवेदन स्थापित (maintainable) है?</a:t>
            </a:r>
          </a:p>
        </p:txBody>
      </p:sp>
      <p:sp>
        <p:nvSpPr>
          <p:cNvPr id="27" name="Rounded Rectangle 13">
            <a:extLst>
              <a:ext uri="{FF2B5EF4-FFF2-40B4-BE49-F238E27FC236}">
                <a16:creationId xmlns:a16="http://schemas.microsoft.com/office/drawing/2014/main" id="{32AA35D1-7D7E-D759-A068-1F8CC67054FD}"/>
              </a:ext>
            </a:extLst>
          </p:cNvPr>
          <p:cNvSpPr/>
          <p:nvPr/>
        </p:nvSpPr>
        <p:spPr>
          <a:xfrm>
            <a:off x="457200" y="5285232"/>
            <a:ext cx="11292840" cy="868680"/>
          </a:xfrm>
          <a:prstGeom prst="roundRect">
            <a:avLst/>
          </a:prstGeom>
          <a:solidFill>
            <a:srgbClr val="EA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179D975F-EB22-0832-3C15-321A3F3F94B9}"/>
              </a:ext>
            </a:extLst>
          </p:cNvPr>
          <p:cNvSpPr txBox="1"/>
          <p:nvPr/>
        </p:nvSpPr>
        <p:spPr>
          <a:xfrm>
            <a:off x="640080" y="5358384"/>
            <a:ext cx="10927080" cy="677108"/>
          </a:xfrm>
          <a:prstGeom prst="rect">
            <a:avLst/>
          </a:prstGeom>
          <a:noFill/>
        </p:spPr>
        <p:txBody>
          <a:bodyPr wrap="square">
            <a:spAutoFit/>
          </a:bodyPr>
          <a:lstStyle/>
          <a:p>
            <a:r>
              <a:rPr sz="1300" b="1" dirty="0">
                <a:solidFill>
                  <a:srgbClr val="1E8E3E"/>
                </a:solidFill>
              </a:rPr>
              <a:t>Why this matters: </a:t>
            </a:r>
            <a:r>
              <a:rPr sz="1250" dirty="0">
                <a:solidFill>
                  <a:srgbClr val="222222"/>
                </a:solidFill>
              </a:rPr>
              <a:t>All three broadly capture the FIR and procedural sequence, but Zero-shot most cleanly preserves the exact statutory sections (IPC 420/467/468/471/120-B) and dates. This matches the manual scores directly: Zero-shot (3.8/5) clearly outscored </a:t>
            </a:r>
            <a:r>
              <a:rPr sz="1250" dirty="0" err="1">
                <a:solidFill>
                  <a:srgbClr val="222222"/>
                </a:solidFill>
              </a:rPr>
              <a:t>CoT</a:t>
            </a:r>
            <a:r>
              <a:rPr sz="1250" dirty="0">
                <a:solidFill>
                  <a:srgbClr val="222222"/>
                </a:solidFill>
              </a:rPr>
              <a:t> (3.6/5) and Few-shot (2.8/5) on this case one prompting method genuinely performed better here.</a:t>
            </a:r>
          </a:p>
        </p:txBody>
      </p:sp>
      <p:sp>
        <p:nvSpPr>
          <p:cNvPr id="31" name="TextBox 30">
            <a:extLst>
              <a:ext uri="{FF2B5EF4-FFF2-40B4-BE49-F238E27FC236}">
                <a16:creationId xmlns:a16="http://schemas.microsoft.com/office/drawing/2014/main" id="{E1267A7F-7875-5B61-42C7-6E82545395A5}"/>
              </a:ext>
            </a:extLst>
          </p:cNvPr>
          <p:cNvSpPr txBox="1"/>
          <p:nvPr/>
        </p:nvSpPr>
        <p:spPr>
          <a:xfrm>
            <a:off x="457200" y="6565392"/>
            <a:ext cx="6319359"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a:t>
            </a:r>
            <a:r>
              <a:rPr lang="en-IN" dirty="0"/>
              <a:t>                               </a:t>
            </a:r>
            <a:r>
              <a:rPr dirty="0"/>
              <a:t> </a:t>
            </a:r>
            <a:r>
              <a:rPr lang="en-IN" dirty="0"/>
              <a:t>8</a:t>
            </a:r>
            <a:r>
              <a:rPr dirty="0"/>
              <a:t>/</a:t>
            </a:r>
            <a:r>
              <a:rPr lang="en-IN" dirty="0"/>
              <a:t>12</a:t>
            </a:r>
            <a:endParaRPr dirty="0"/>
          </a:p>
        </p:txBody>
      </p:sp>
    </p:spTree>
    <p:extLst>
      <p:ext uri="{BB962C8B-B14F-4D97-AF65-F5344CB8AC3E}">
        <p14:creationId xmlns:p14="http://schemas.microsoft.com/office/powerpoint/2010/main" val="148855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E62E1E0-0E45-E09D-1C31-1DAEBE642A4A}"/>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D87C74F-BAEB-CFEC-E022-DADF2BAE49B5}"/>
              </a:ext>
            </a:extLst>
          </p:cNvPr>
          <p:cNvSpPr txBox="1"/>
          <p:nvPr/>
        </p:nvSpPr>
        <p:spPr>
          <a:xfrm>
            <a:off x="457200" y="274320"/>
            <a:ext cx="11247120" cy="640080"/>
          </a:xfrm>
          <a:prstGeom prst="rect">
            <a:avLst/>
          </a:prstGeom>
          <a:noFill/>
        </p:spPr>
        <p:txBody>
          <a:bodyPr wrap="square">
            <a:spAutoFit/>
          </a:bodyPr>
          <a:lstStyle/>
          <a:p>
            <a:pPr>
              <a:defRPr sz="2600" b="1">
                <a:solidFill>
                  <a:srgbClr val="1B2A4A"/>
                </a:solidFill>
              </a:defRPr>
            </a:pPr>
            <a:r>
              <a:t>Case Study: Sample 8 — An Important Mistake</a:t>
            </a:r>
          </a:p>
        </p:txBody>
      </p:sp>
      <p:sp>
        <p:nvSpPr>
          <p:cNvPr id="7" name="TextBox 6">
            <a:extLst>
              <a:ext uri="{FF2B5EF4-FFF2-40B4-BE49-F238E27FC236}">
                <a16:creationId xmlns:a16="http://schemas.microsoft.com/office/drawing/2014/main" id="{4BBAA6F9-2BD3-B054-0910-B1455A3932DD}"/>
              </a:ext>
            </a:extLst>
          </p:cNvPr>
          <p:cNvSpPr txBox="1"/>
          <p:nvPr/>
        </p:nvSpPr>
        <p:spPr>
          <a:xfrm>
            <a:off x="457200" y="777240"/>
            <a:ext cx="11247120" cy="320040"/>
          </a:xfrm>
          <a:prstGeom prst="rect">
            <a:avLst/>
          </a:prstGeom>
          <a:noFill/>
        </p:spPr>
        <p:txBody>
          <a:bodyPr wrap="square">
            <a:spAutoFit/>
          </a:bodyPr>
          <a:lstStyle/>
          <a:p>
            <a:pPr>
              <a:defRPr sz="1400" i="1">
                <a:solidFill>
                  <a:srgbClr val="5A5A5A"/>
                </a:solidFill>
              </a:defRPr>
            </a:pPr>
            <a:r>
              <a:t>A critical numerical error reverses the legal conclusion</a:t>
            </a:r>
          </a:p>
        </p:txBody>
      </p:sp>
      <p:sp>
        <p:nvSpPr>
          <p:cNvPr id="9" name="Rounded Rectangle 4">
            <a:extLst>
              <a:ext uri="{FF2B5EF4-FFF2-40B4-BE49-F238E27FC236}">
                <a16:creationId xmlns:a16="http://schemas.microsoft.com/office/drawing/2014/main" id="{D3382888-AD37-ADB8-25D7-666067CEE214}"/>
              </a:ext>
            </a:extLst>
          </p:cNvPr>
          <p:cNvSpPr/>
          <p:nvPr/>
        </p:nvSpPr>
        <p:spPr>
          <a:xfrm>
            <a:off x="9692640" y="320040"/>
            <a:ext cx="2011680" cy="4114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CRITICAL ERROR</a:t>
            </a:r>
          </a:p>
        </p:txBody>
      </p:sp>
      <p:sp>
        <p:nvSpPr>
          <p:cNvPr id="11" name="Rounded Rectangle 5">
            <a:extLst>
              <a:ext uri="{FF2B5EF4-FFF2-40B4-BE49-F238E27FC236}">
                <a16:creationId xmlns:a16="http://schemas.microsoft.com/office/drawing/2014/main" id="{34559409-2812-B041-B30A-34F249E6BDC8}"/>
              </a:ext>
            </a:extLst>
          </p:cNvPr>
          <p:cNvSpPr/>
          <p:nvPr/>
        </p:nvSpPr>
        <p:spPr>
          <a:xfrm>
            <a:off x="457200" y="1371600"/>
            <a:ext cx="1371600" cy="310896"/>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REFERENCE (Judgment)</a:t>
            </a:r>
          </a:p>
        </p:txBody>
      </p:sp>
      <p:sp>
        <p:nvSpPr>
          <p:cNvPr id="13" name="Rounded Rectangle 6">
            <a:extLst>
              <a:ext uri="{FF2B5EF4-FFF2-40B4-BE49-F238E27FC236}">
                <a16:creationId xmlns:a16="http://schemas.microsoft.com/office/drawing/2014/main" id="{5EF7900B-1CC1-559E-5B00-5350224107BA}"/>
              </a:ext>
            </a:extLst>
          </p:cNvPr>
          <p:cNvSpPr/>
          <p:nvPr/>
        </p:nvSpPr>
        <p:spPr>
          <a:xfrm>
            <a:off x="457200" y="1719072"/>
            <a:ext cx="11292840" cy="493776"/>
          </a:xfrm>
          <a:prstGeom prst="roundRect">
            <a:avLst/>
          </a:prstGeom>
          <a:solidFill>
            <a:srgbClr val="FFFFFF"/>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जब्ती ज्ञापन के अनुसार अजीत कुमार से 6 पैकेट (12 किलो गांजा) और ठाकुर से 5 पैकेट (10 किलो गांजा) बरामद — कुल 22 किलो। दोनों को मिलाकर सील किया गया, जो स्टैंडिंग ऑर्डर 1/88 का उल्लंघन था; अदालत ने जमानत दी क्योंकि नमूना संग्रह ही दोषपूर्ण था।</a:t>
            </a:r>
          </a:p>
        </p:txBody>
      </p:sp>
      <p:sp>
        <p:nvSpPr>
          <p:cNvPr id="15" name="Rounded Rectangle 7">
            <a:extLst>
              <a:ext uri="{FF2B5EF4-FFF2-40B4-BE49-F238E27FC236}">
                <a16:creationId xmlns:a16="http://schemas.microsoft.com/office/drawing/2014/main" id="{14B0CA2E-908A-9CF5-BE02-D7CE3CD564D8}"/>
              </a:ext>
            </a:extLst>
          </p:cNvPr>
          <p:cNvSpPr/>
          <p:nvPr/>
        </p:nvSpPr>
        <p:spPr>
          <a:xfrm>
            <a:off x="457200" y="2331720"/>
            <a:ext cx="1371600" cy="310896"/>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ZERO-SHOT</a:t>
            </a:r>
          </a:p>
        </p:txBody>
      </p:sp>
      <p:sp>
        <p:nvSpPr>
          <p:cNvPr id="17" name="Rounded Rectangle 8">
            <a:extLst>
              <a:ext uri="{FF2B5EF4-FFF2-40B4-BE49-F238E27FC236}">
                <a16:creationId xmlns:a16="http://schemas.microsoft.com/office/drawing/2014/main" id="{A1E60EDD-2BAF-7828-4763-DBD19F0EEFF2}"/>
              </a:ext>
            </a:extLst>
          </p:cNvPr>
          <p:cNvSpPr/>
          <p:nvPr/>
        </p:nvSpPr>
        <p:spPr>
          <a:xfrm>
            <a:off x="457200" y="2679191"/>
            <a:ext cx="11292840" cy="493776"/>
          </a:xfrm>
          <a:prstGeom prst="roundRect">
            <a:avLst/>
          </a:prstGeom>
          <a:solidFill>
            <a:srgbClr val="FFFFFF"/>
          </a:solidFill>
          <a:ln w="9525">
            <a:solidFill>
              <a:srgbClr val="2E86C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12 किलो गांजा और अभियुक्त द्वारा पकड़े गए 10 किलो गांजा एक साथ मिक्स करके सील किए गए — कुल 22 किलो, जो व्यापारिक मात्रा से अधिक है। कोर्ट ने अभियुक्त के दावे को स्वीकार नहीं किया और नियमित जमानत की अनुमति दी।</a:t>
            </a:r>
          </a:p>
        </p:txBody>
      </p:sp>
      <p:sp>
        <p:nvSpPr>
          <p:cNvPr id="19" name="Rounded Rectangle 9">
            <a:extLst>
              <a:ext uri="{FF2B5EF4-FFF2-40B4-BE49-F238E27FC236}">
                <a16:creationId xmlns:a16="http://schemas.microsoft.com/office/drawing/2014/main" id="{7587B431-6B64-C471-4839-445F02373003}"/>
              </a:ext>
            </a:extLst>
          </p:cNvPr>
          <p:cNvSpPr/>
          <p:nvPr/>
        </p:nvSpPr>
        <p:spPr>
          <a:xfrm>
            <a:off x="457200" y="3291840"/>
            <a:ext cx="1371600" cy="310896"/>
          </a:xfrm>
          <a:prstGeom prst="roundRect">
            <a:avLst/>
          </a:prstGeom>
          <a:solidFill>
            <a:srgbClr val="B9770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FEW-SHOT</a:t>
            </a:r>
          </a:p>
        </p:txBody>
      </p:sp>
      <p:sp>
        <p:nvSpPr>
          <p:cNvPr id="21" name="Rounded Rectangle 10">
            <a:extLst>
              <a:ext uri="{FF2B5EF4-FFF2-40B4-BE49-F238E27FC236}">
                <a16:creationId xmlns:a16="http://schemas.microsoft.com/office/drawing/2014/main" id="{99AF8E05-7BE5-162D-F3B4-DFA357C8D154}"/>
              </a:ext>
            </a:extLst>
          </p:cNvPr>
          <p:cNvSpPr/>
          <p:nvPr/>
        </p:nvSpPr>
        <p:spPr>
          <a:xfrm>
            <a:off x="457200" y="3639312"/>
            <a:ext cx="11292840" cy="493776"/>
          </a:xfrm>
          <a:prstGeom prst="roundRect">
            <a:avLst/>
          </a:prstGeom>
          <a:solidFill>
            <a:srgbClr val="FFFFFF"/>
          </a:solidFill>
          <a:ln w="9525">
            <a:solidFill>
              <a:srgbClr val="B9770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एक व्यक्ति से 6 पैकेट (12 किलोग्राम) और दूसरे से 5 पैकेट (10 किलोग्राम) — यहाँ 69.50 किलोग्राम। बैगों को मिक्स करना या दो नमूने लेना अभियुक्त के हित को प्रभावित नहीं करता। अतः, उठाई गई दलील का कोई आधार नहीं है।</a:t>
            </a:r>
          </a:p>
        </p:txBody>
      </p:sp>
      <p:sp>
        <p:nvSpPr>
          <p:cNvPr id="23" name="Rounded Rectangle 11">
            <a:extLst>
              <a:ext uri="{FF2B5EF4-FFF2-40B4-BE49-F238E27FC236}">
                <a16:creationId xmlns:a16="http://schemas.microsoft.com/office/drawing/2014/main" id="{59DA6AA3-E549-0D6E-D87A-E5A8862A7407}"/>
              </a:ext>
            </a:extLst>
          </p:cNvPr>
          <p:cNvSpPr/>
          <p:nvPr/>
        </p:nvSpPr>
        <p:spPr>
          <a:xfrm>
            <a:off x="457200" y="4251960"/>
            <a:ext cx="1371600" cy="310896"/>
          </a:xfrm>
          <a:prstGeom prst="round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STRUCTURED CoT</a:t>
            </a:r>
          </a:p>
        </p:txBody>
      </p:sp>
      <p:sp>
        <p:nvSpPr>
          <p:cNvPr id="25" name="Rounded Rectangle 12">
            <a:extLst>
              <a:ext uri="{FF2B5EF4-FFF2-40B4-BE49-F238E27FC236}">
                <a16:creationId xmlns:a16="http://schemas.microsoft.com/office/drawing/2014/main" id="{6E81D73C-2F04-6C17-2C9C-D2C8C13E2E8C}"/>
              </a:ext>
            </a:extLst>
          </p:cNvPr>
          <p:cNvSpPr/>
          <p:nvPr/>
        </p:nvSpPr>
        <p:spPr>
          <a:xfrm>
            <a:off x="457200" y="4599432"/>
            <a:ext cx="11292840" cy="493776"/>
          </a:xfrm>
          <a:prstGeom prst="roundRect">
            <a:avLst/>
          </a:prstGeom>
          <a:solidFill>
            <a:srgbClr val="FFFFFF"/>
          </a:solidFill>
          <a:ln w="9525">
            <a:solidFill>
              <a:srgbClr val="1E8E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6 पैकेट, जिनमें कुल 12 किलो गांजा मिला; 5 अन्य पैकेट — कुल 69.50 किलो गांजा मिला जो व्यापारिक मात्रा से अधिक है। कोर्ट ने स्वीकार किया कि सामान मिलाने की प्रक्रिया में कोई नुकसान नहीं हुआ।</a:t>
            </a:r>
          </a:p>
        </p:txBody>
      </p:sp>
      <p:sp>
        <p:nvSpPr>
          <p:cNvPr id="27" name="Rounded Rectangle 13">
            <a:extLst>
              <a:ext uri="{FF2B5EF4-FFF2-40B4-BE49-F238E27FC236}">
                <a16:creationId xmlns:a16="http://schemas.microsoft.com/office/drawing/2014/main" id="{E174021A-DDD2-333C-D5A1-8AEB9E0B437B}"/>
              </a:ext>
            </a:extLst>
          </p:cNvPr>
          <p:cNvSpPr/>
          <p:nvPr/>
        </p:nvSpPr>
        <p:spPr>
          <a:xfrm>
            <a:off x="457200" y="5285232"/>
            <a:ext cx="11292840" cy="8686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C9548E18-F437-195E-2858-4B862037E141}"/>
              </a:ext>
            </a:extLst>
          </p:cNvPr>
          <p:cNvSpPr txBox="1"/>
          <p:nvPr/>
        </p:nvSpPr>
        <p:spPr>
          <a:xfrm>
            <a:off x="640080" y="5358384"/>
            <a:ext cx="10927080" cy="677108"/>
          </a:xfrm>
          <a:prstGeom prst="rect">
            <a:avLst/>
          </a:prstGeom>
          <a:noFill/>
        </p:spPr>
        <p:txBody>
          <a:bodyPr wrap="square">
            <a:spAutoFit/>
          </a:bodyPr>
          <a:lstStyle/>
          <a:p>
            <a:r>
              <a:rPr sz="1300" b="1" dirty="0">
                <a:solidFill>
                  <a:srgbClr val="C0392B"/>
                </a:solidFill>
              </a:rPr>
              <a:t>Why this matters: </a:t>
            </a:r>
            <a:r>
              <a:rPr sz="1250" dirty="0">
                <a:solidFill>
                  <a:srgbClr val="222222"/>
                </a:solidFill>
              </a:rPr>
              <a:t>Few-shot AND </a:t>
            </a:r>
            <a:r>
              <a:rPr sz="1250" dirty="0" err="1">
                <a:solidFill>
                  <a:srgbClr val="222222"/>
                </a:solidFill>
              </a:rPr>
              <a:t>CoT</a:t>
            </a:r>
            <a:r>
              <a:rPr sz="1250" dirty="0">
                <a:solidFill>
                  <a:srgbClr val="222222"/>
                </a:solidFill>
              </a:rPr>
              <a:t> both state a total of 69.50 kg </a:t>
            </a:r>
            <a:r>
              <a:rPr lang="en-IN" sz="1250" dirty="0">
                <a:solidFill>
                  <a:srgbClr val="222222"/>
                </a:solidFill>
              </a:rPr>
              <a:t>which is</a:t>
            </a:r>
            <a:r>
              <a:rPr sz="1250" dirty="0">
                <a:solidFill>
                  <a:srgbClr val="222222"/>
                </a:solidFill>
              </a:rPr>
              <a:t> nearly triple the correct 22 kg and both conclude there was NO procedural irregularity, the exact opposite of the reference's actual holding that improper mixing warranted bail. This is an important mistake: a single wrong number flips the entire legal conclusion in two of three methods.</a:t>
            </a:r>
          </a:p>
        </p:txBody>
      </p:sp>
      <p:sp>
        <p:nvSpPr>
          <p:cNvPr id="31" name="TextBox 30">
            <a:extLst>
              <a:ext uri="{FF2B5EF4-FFF2-40B4-BE49-F238E27FC236}">
                <a16:creationId xmlns:a16="http://schemas.microsoft.com/office/drawing/2014/main" id="{3A59297E-1D6F-1295-0777-E63CB67C3F43}"/>
              </a:ext>
            </a:extLst>
          </p:cNvPr>
          <p:cNvSpPr txBox="1"/>
          <p:nvPr/>
        </p:nvSpPr>
        <p:spPr>
          <a:xfrm>
            <a:off x="457200" y="6565392"/>
            <a:ext cx="6319359"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a:t>
            </a:r>
            <a:r>
              <a:rPr lang="en-IN" dirty="0"/>
              <a:t>                               </a:t>
            </a:r>
            <a:r>
              <a:rPr dirty="0"/>
              <a:t> </a:t>
            </a:r>
            <a:r>
              <a:rPr lang="en-IN" dirty="0"/>
              <a:t>9</a:t>
            </a:r>
            <a:r>
              <a:rPr dirty="0"/>
              <a:t>/</a:t>
            </a:r>
            <a:r>
              <a:rPr lang="en-IN" dirty="0"/>
              <a:t>12</a:t>
            </a:r>
            <a:endParaRPr dirty="0"/>
          </a:p>
        </p:txBody>
      </p:sp>
    </p:spTree>
    <p:extLst>
      <p:ext uri="{BB962C8B-B14F-4D97-AF65-F5344CB8AC3E}">
        <p14:creationId xmlns:p14="http://schemas.microsoft.com/office/powerpoint/2010/main" val="390846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3EC98F-E4A3-ECD6-639E-1FE2D237D856}"/>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98436E9-BA0E-0913-4817-4761D0D9FF52}"/>
              </a:ext>
            </a:extLst>
          </p:cNvPr>
          <p:cNvSpPr txBox="1"/>
          <p:nvPr/>
        </p:nvSpPr>
        <p:spPr>
          <a:xfrm>
            <a:off x="457200" y="274320"/>
            <a:ext cx="11247120" cy="640080"/>
          </a:xfrm>
          <a:prstGeom prst="rect">
            <a:avLst/>
          </a:prstGeom>
          <a:noFill/>
        </p:spPr>
        <p:txBody>
          <a:bodyPr wrap="square">
            <a:spAutoFit/>
          </a:bodyPr>
          <a:lstStyle/>
          <a:p>
            <a:pPr>
              <a:defRPr sz="2600" b="1">
                <a:solidFill>
                  <a:srgbClr val="1B2A4A"/>
                </a:solidFill>
              </a:defRPr>
            </a:pPr>
            <a:r>
              <a:rPr dirty="0"/>
              <a:t>Case Study: Sample 1 — Metrics vs Manual Disagree</a:t>
            </a:r>
          </a:p>
        </p:txBody>
      </p:sp>
      <p:sp>
        <p:nvSpPr>
          <p:cNvPr id="7" name="TextBox 6">
            <a:extLst>
              <a:ext uri="{FF2B5EF4-FFF2-40B4-BE49-F238E27FC236}">
                <a16:creationId xmlns:a16="http://schemas.microsoft.com/office/drawing/2014/main" id="{9E910BDD-1AC6-A937-4CA6-2DE641FFC9E5}"/>
              </a:ext>
            </a:extLst>
          </p:cNvPr>
          <p:cNvSpPr txBox="1"/>
          <p:nvPr/>
        </p:nvSpPr>
        <p:spPr>
          <a:xfrm>
            <a:off x="457200" y="777240"/>
            <a:ext cx="11247120" cy="320040"/>
          </a:xfrm>
          <a:prstGeom prst="rect">
            <a:avLst/>
          </a:prstGeom>
          <a:noFill/>
        </p:spPr>
        <p:txBody>
          <a:bodyPr wrap="square">
            <a:spAutoFit/>
          </a:bodyPr>
          <a:lstStyle/>
          <a:p>
            <a:pPr>
              <a:defRPr sz="1400" i="1">
                <a:solidFill>
                  <a:srgbClr val="5A5A5A"/>
                </a:solidFill>
              </a:defRPr>
            </a:pPr>
            <a:r>
              <a:t>High lexical overlap coexists with a legally critical entity error</a:t>
            </a:r>
          </a:p>
        </p:txBody>
      </p:sp>
      <p:sp>
        <p:nvSpPr>
          <p:cNvPr id="9" name="Rounded Rectangle 4">
            <a:extLst>
              <a:ext uri="{FF2B5EF4-FFF2-40B4-BE49-F238E27FC236}">
                <a16:creationId xmlns:a16="http://schemas.microsoft.com/office/drawing/2014/main" id="{42D206CC-0259-7173-929C-1EF46F73BA90}"/>
              </a:ext>
            </a:extLst>
          </p:cNvPr>
          <p:cNvSpPr/>
          <p:nvPr/>
        </p:nvSpPr>
        <p:spPr>
          <a:xfrm>
            <a:off x="9692640" y="320040"/>
            <a:ext cx="2011680" cy="411480"/>
          </a:xfrm>
          <a:prstGeom prst="roundRect">
            <a:avLst/>
          </a:prstGeom>
          <a:solidFill>
            <a:srgbClr val="B977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METRIC DISAGREEMENT</a:t>
            </a:r>
          </a:p>
        </p:txBody>
      </p:sp>
      <p:sp>
        <p:nvSpPr>
          <p:cNvPr id="11" name="Rounded Rectangle 5">
            <a:extLst>
              <a:ext uri="{FF2B5EF4-FFF2-40B4-BE49-F238E27FC236}">
                <a16:creationId xmlns:a16="http://schemas.microsoft.com/office/drawing/2014/main" id="{C8ABC1F5-F193-CF3F-C250-2613C20C839A}"/>
              </a:ext>
            </a:extLst>
          </p:cNvPr>
          <p:cNvSpPr/>
          <p:nvPr/>
        </p:nvSpPr>
        <p:spPr>
          <a:xfrm>
            <a:off x="457200" y="1371600"/>
            <a:ext cx="1371600" cy="310896"/>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REFERENCE (Judgment)</a:t>
            </a:r>
          </a:p>
        </p:txBody>
      </p:sp>
      <p:sp>
        <p:nvSpPr>
          <p:cNvPr id="13" name="Rounded Rectangle 6">
            <a:extLst>
              <a:ext uri="{FF2B5EF4-FFF2-40B4-BE49-F238E27FC236}">
                <a16:creationId xmlns:a16="http://schemas.microsoft.com/office/drawing/2014/main" id="{2B29957B-5FA2-CF3C-8C38-16F89CECA6CB}"/>
              </a:ext>
            </a:extLst>
          </p:cNvPr>
          <p:cNvSpPr/>
          <p:nvPr/>
        </p:nvSpPr>
        <p:spPr>
          <a:xfrm>
            <a:off x="457200" y="1719072"/>
            <a:ext cx="11292840" cy="493776"/>
          </a:xfrm>
          <a:prstGeom prst="roundRect">
            <a:avLst/>
          </a:prstGeom>
          <a:solidFill>
            <a:srgbClr val="FFFFFF"/>
          </a:solidFill>
          <a:ln w="9525">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एडीजे दिनेश कुमार को दिल्ली सरकार के दायित्व के अधीन 22 अप्रैल से 7 जून 2021 तक PSRI अस्पताल में भर्ती किया गया — बिल रु.24,02,380; प्रतिपूर्ति रु.7,08,500; शेष रु.16,93,880 दिल्ली सरकार को देने का निर्देश।</a:t>
            </a:r>
          </a:p>
        </p:txBody>
      </p:sp>
      <p:sp>
        <p:nvSpPr>
          <p:cNvPr id="15" name="Rounded Rectangle 7">
            <a:extLst>
              <a:ext uri="{FF2B5EF4-FFF2-40B4-BE49-F238E27FC236}">
                <a16:creationId xmlns:a16="http://schemas.microsoft.com/office/drawing/2014/main" id="{89F0208C-351B-1AA5-D596-20A7DB45FE10}"/>
              </a:ext>
            </a:extLst>
          </p:cNvPr>
          <p:cNvSpPr/>
          <p:nvPr/>
        </p:nvSpPr>
        <p:spPr>
          <a:xfrm>
            <a:off x="457200" y="2331720"/>
            <a:ext cx="1371600" cy="310896"/>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ZERO-SHOT</a:t>
            </a:r>
          </a:p>
        </p:txBody>
      </p:sp>
      <p:sp>
        <p:nvSpPr>
          <p:cNvPr id="17" name="Rounded Rectangle 8">
            <a:extLst>
              <a:ext uri="{FF2B5EF4-FFF2-40B4-BE49-F238E27FC236}">
                <a16:creationId xmlns:a16="http://schemas.microsoft.com/office/drawing/2014/main" id="{08174A0D-2FA0-9173-87B7-370D041D536E}"/>
              </a:ext>
            </a:extLst>
          </p:cNvPr>
          <p:cNvSpPr/>
          <p:nvPr/>
        </p:nvSpPr>
        <p:spPr>
          <a:xfrm>
            <a:off x="457200" y="2679191"/>
            <a:ext cx="11292840" cy="493776"/>
          </a:xfrm>
          <a:prstGeom prst="roundRect">
            <a:avLst/>
          </a:prstGeom>
          <a:solidFill>
            <a:srgbClr val="FFFFFF"/>
          </a:solidFill>
          <a:ln w="9525">
            <a:solidFill>
              <a:srgbClr val="2E86C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उत्तराधिकारी नं. 1 से 3 ने तकनीकी समिति की सिफारिश पर केवल ₹7,08,500 रिफंड दिए हैं और बाकी राशि (लगभग ₹16 लाख) वापस करने से इनकार किया।</a:t>
            </a:r>
          </a:p>
        </p:txBody>
      </p:sp>
      <p:sp>
        <p:nvSpPr>
          <p:cNvPr id="19" name="Rounded Rectangle 9">
            <a:extLst>
              <a:ext uri="{FF2B5EF4-FFF2-40B4-BE49-F238E27FC236}">
                <a16:creationId xmlns:a16="http://schemas.microsoft.com/office/drawing/2014/main" id="{1B3AF53C-B4C0-358B-4494-CD60DC41DA5E}"/>
              </a:ext>
            </a:extLst>
          </p:cNvPr>
          <p:cNvSpPr/>
          <p:nvPr/>
        </p:nvSpPr>
        <p:spPr>
          <a:xfrm>
            <a:off x="457200" y="3291840"/>
            <a:ext cx="1371600" cy="310896"/>
          </a:xfrm>
          <a:prstGeom prst="roundRect">
            <a:avLst/>
          </a:prstGeom>
          <a:solidFill>
            <a:srgbClr val="B9770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FEW-SHOT</a:t>
            </a:r>
          </a:p>
        </p:txBody>
      </p:sp>
      <p:sp>
        <p:nvSpPr>
          <p:cNvPr id="21" name="Rounded Rectangle 10">
            <a:extLst>
              <a:ext uri="{FF2B5EF4-FFF2-40B4-BE49-F238E27FC236}">
                <a16:creationId xmlns:a16="http://schemas.microsoft.com/office/drawing/2014/main" id="{0F6773E7-FA40-BAB0-D096-493EAFBA9EB2}"/>
              </a:ext>
            </a:extLst>
          </p:cNvPr>
          <p:cNvSpPr/>
          <p:nvPr/>
        </p:nvSpPr>
        <p:spPr>
          <a:xfrm>
            <a:off x="457200" y="3639312"/>
            <a:ext cx="11292840" cy="493776"/>
          </a:xfrm>
          <a:prstGeom prst="roundRect">
            <a:avLst/>
          </a:prstGeom>
          <a:solidFill>
            <a:srgbClr val="FFFFFF"/>
          </a:solidFill>
          <a:ln w="9525">
            <a:solidFill>
              <a:srgbClr val="B9770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पेटिशनिस्ट ने कहा कि वह 22.04.2021 से 07.06.2021 तक उत्तर प्रदेश सरकार द्वारा नियंत्रित हॉस्पिटल में उपचार के लिए प्रवेश किया था, जिसमें 24 लाख 2 हजार 380 रुपये चुकाए। उत्तर प्रदेश सरकार ने केवल 7 लाख 8 हजार 500 रुपये रिफंड किए।</a:t>
            </a:r>
          </a:p>
        </p:txBody>
      </p:sp>
      <p:sp>
        <p:nvSpPr>
          <p:cNvPr id="23" name="Rounded Rectangle 11">
            <a:extLst>
              <a:ext uri="{FF2B5EF4-FFF2-40B4-BE49-F238E27FC236}">
                <a16:creationId xmlns:a16="http://schemas.microsoft.com/office/drawing/2014/main" id="{D7A9FCDF-5C80-B550-02C2-3DE9E9679DE5}"/>
              </a:ext>
            </a:extLst>
          </p:cNvPr>
          <p:cNvSpPr/>
          <p:nvPr/>
        </p:nvSpPr>
        <p:spPr>
          <a:xfrm>
            <a:off x="457200" y="4251960"/>
            <a:ext cx="1371600" cy="310896"/>
          </a:xfrm>
          <a:prstGeom prst="round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defRPr sz="1200" b="1">
                <a:solidFill>
                  <a:srgbClr val="FFFFFF"/>
                </a:solidFill>
              </a:defRPr>
            </a:pPr>
            <a:r>
              <a:t>STRUCTURED CoT</a:t>
            </a:r>
          </a:p>
        </p:txBody>
      </p:sp>
      <p:sp>
        <p:nvSpPr>
          <p:cNvPr id="25" name="Rounded Rectangle 12">
            <a:extLst>
              <a:ext uri="{FF2B5EF4-FFF2-40B4-BE49-F238E27FC236}">
                <a16:creationId xmlns:a16="http://schemas.microsoft.com/office/drawing/2014/main" id="{D249ADA3-4187-8595-B565-D9AD25B374A1}"/>
              </a:ext>
            </a:extLst>
          </p:cNvPr>
          <p:cNvSpPr/>
          <p:nvPr/>
        </p:nvSpPr>
        <p:spPr>
          <a:xfrm>
            <a:off x="457200" y="4599432"/>
            <a:ext cx="11292840" cy="493776"/>
          </a:xfrm>
          <a:prstGeom prst="roundRect">
            <a:avLst/>
          </a:prstGeom>
          <a:solidFill>
            <a:srgbClr val="FFFFFF"/>
          </a:solidFill>
          <a:ln w="9525">
            <a:solidFill>
              <a:srgbClr val="1E8E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22222"/>
                </a:solidFill>
              </a:defRPr>
            </a:pPr>
            <a:r>
              <a:t>रеспॉन्डेंट नं. 1 से 3 ने केवल ₹7,08,500 की रकम वापस की है और बाकी राशि ₹16,93,880 को वापस करने से इनकार किया, क्योंकि रेस्पॉन्डेंट नं. 5 ने दिल्ली सरकार द्वारा जारी सर्कुलर के नियमानुसार अधिक दरें लगाई थीं।</a:t>
            </a:r>
          </a:p>
        </p:txBody>
      </p:sp>
      <p:sp>
        <p:nvSpPr>
          <p:cNvPr id="27" name="Rounded Rectangle 13">
            <a:extLst>
              <a:ext uri="{FF2B5EF4-FFF2-40B4-BE49-F238E27FC236}">
                <a16:creationId xmlns:a16="http://schemas.microsoft.com/office/drawing/2014/main" id="{15DC4235-C184-2DE2-8CA3-FFC278CFEAC0}"/>
              </a:ext>
            </a:extLst>
          </p:cNvPr>
          <p:cNvSpPr/>
          <p:nvPr/>
        </p:nvSpPr>
        <p:spPr>
          <a:xfrm>
            <a:off x="457200" y="5285232"/>
            <a:ext cx="11292840" cy="868680"/>
          </a:xfrm>
          <a:prstGeom prst="roundRect">
            <a:avLst/>
          </a:prstGeom>
          <a:solidFill>
            <a:srgbClr val="FB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B3A64E7E-E30F-F21E-DFEE-6599F559868F}"/>
              </a:ext>
            </a:extLst>
          </p:cNvPr>
          <p:cNvSpPr txBox="1"/>
          <p:nvPr/>
        </p:nvSpPr>
        <p:spPr>
          <a:xfrm>
            <a:off x="640080" y="5358384"/>
            <a:ext cx="10927080" cy="677108"/>
          </a:xfrm>
          <a:prstGeom prst="rect">
            <a:avLst/>
          </a:prstGeom>
          <a:noFill/>
        </p:spPr>
        <p:txBody>
          <a:bodyPr wrap="square">
            <a:spAutoFit/>
          </a:bodyPr>
          <a:lstStyle/>
          <a:p>
            <a:r>
              <a:rPr sz="1300" b="1" dirty="0">
                <a:solidFill>
                  <a:srgbClr val="B9770E"/>
                </a:solidFill>
              </a:rPr>
              <a:t>Why this matters: </a:t>
            </a:r>
            <a:r>
              <a:rPr sz="1250" dirty="0">
                <a:solidFill>
                  <a:srgbClr val="222222"/>
                </a:solidFill>
              </a:rPr>
              <a:t>Few-shot correctly reproduces the exact rupee figures (₹24,02,380 / ₹7,08,500) </a:t>
            </a:r>
            <a:r>
              <a:rPr lang="en-IN" sz="1250" dirty="0">
                <a:solidFill>
                  <a:srgbClr val="222222"/>
                </a:solidFill>
              </a:rPr>
              <a:t>,</a:t>
            </a:r>
            <a:r>
              <a:rPr sz="1250" dirty="0">
                <a:solidFill>
                  <a:srgbClr val="222222"/>
                </a:solidFill>
              </a:rPr>
              <a:t> giving it strong lexical/ROUGE overlap with the reference </a:t>
            </a:r>
            <a:r>
              <a:rPr lang="en-IN" sz="1250" dirty="0">
                <a:solidFill>
                  <a:srgbClr val="222222"/>
                </a:solidFill>
              </a:rPr>
              <a:t>,</a:t>
            </a:r>
            <a:r>
              <a:rPr sz="1250" dirty="0">
                <a:solidFill>
                  <a:srgbClr val="222222"/>
                </a:solidFill>
              </a:rPr>
              <a:t> yet it substitutes 'Uttar Pradesh Government' for 'Delhi Government', a critical entity error. Automatic metrics reward the numeric overlap; manual evaluation would penalize this factual substitution heavily. This is exactly why ROUGE/</a:t>
            </a:r>
            <a:r>
              <a:rPr sz="1250" dirty="0" err="1">
                <a:solidFill>
                  <a:srgbClr val="222222"/>
                </a:solidFill>
              </a:rPr>
              <a:t>BERTScore</a:t>
            </a:r>
            <a:r>
              <a:rPr sz="1250" dirty="0">
                <a:solidFill>
                  <a:srgbClr val="222222"/>
                </a:solidFill>
              </a:rPr>
              <a:t> and manual scores disagree.</a:t>
            </a:r>
          </a:p>
        </p:txBody>
      </p:sp>
      <p:sp>
        <p:nvSpPr>
          <p:cNvPr id="31" name="TextBox 30">
            <a:extLst>
              <a:ext uri="{FF2B5EF4-FFF2-40B4-BE49-F238E27FC236}">
                <a16:creationId xmlns:a16="http://schemas.microsoft.com/office/drawing/2014/main" id="{D096EA9A-E9FA-8757-B0C0-5027F09B1AC9}"/>
              </a:ext>
            </a:extLst>
          </p:cNvPr>
          <p:cNvSpPr txBox="1"/>
          <p:nvPr/>
        </p:nvSpPr>
        <p:spPr>
          <a:xfrm>
            <a:off x="457200" y="6565392"/>
            <a:ext cx="6354625"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a:t>
            </a:r>
            <a:r>
              <a:rPr lang="en-IN" dirty="0"/>
              <a:t>                               10</a:t>
            </a:r>
            <a:r>
              <a:rPr dirty="0"/>
              <a:t>/</a:t>
            </a:r>
            <a:r>
              <a:rPr lang="en-IN" dirty="0"/>
              <a:t>12</a:t>
            </a:r>
            <a:endParaRPr dirty="0"/>
          </a:p>
        </p:txBody>
      </p:sp>
    </p:spTree>
    <p:extLst>
      <p:ext uri="{BB962C8B-B14F-4D97-AF65-F5344CB8AC3E}">
        <p14:creationId xmlns:p14="http://schemas.microsoft.com/office/powerpoint/2010/main" val="1165892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766560"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73952" y="484632"/>
            <a:ext cx="704088" cy="201168"/>
          </a:xfrm>
          <a:prstGeom prst="rect">
            <a:avLst/>
          </a:prstGeom>
          <a:noFill/>
        </p:spPr>
        <p:txBody>
          <a:bodyPr wrap="none">
            <a:spAutoFit/>
          </a:bodyPr>
          <a:lstStyle/>
          <a:p>
            <a:pPr algn="ctr">
              <a:defRPr sz="800" b="0">
                <a:solidFill>
                  <a:srgbClr val="5A5A5A"/>
                </a:solidFill>
              </a:defRPr>
            </a:pPr>
            <a:r>
              <a:t>Setup</a:t>
            </a:r>
          </a:p>
        </p:txBody>
      </p:sp>
      <p:sp>
        <p:nvSpPr>
          <p:cNvPr id="5" name="Rectangle 4"/>
          <p:cNvSpPr/>
          <p:nvPr/>
        </p:nvSpPr>
        <p:spPr>
          <a:xfrm>
            <a:off x="6885432"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54112"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61504" y="484632"/>
            <a:ext cx="704088" cy="201168"/>
          </a:xfrm>
          <a:prstGeom prst="rect">
            <a:avLst/>
          </a:prstGeom>
          <a:noFill/>
        </p:spPr>
        <p:txBody>
          <a:bodyPr wrap="none">
            <a:spAutoFit/>
          </a:bodyPr>
          <a:lstStyle/>
          <a:p>
            <a:pPr algn="ctr">
              <a:defRPr sz="800" b="0">
                <a:solidFill>
                  <a:srgbClr val="5A5A5A"/>
                </a:solidFill>
              </a:defRPr>
            </a:pPr>
            <a:r>
              <a:t>Automatic</a:t>
            </a:r>
          </a:p>
        </p:txBody>
      </p:sp>
      <p:sp>
        <p:nvSpPr>
          <p:cNvPr id="8" name="Rectangle 7"/>
          <p:cNvSpPr/>
          <p:nvPr/>
        </p:nvSpPr>
        <p:spPr>
          <a:xfrm>
            <a:off x="7872984"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41664"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49056" y="484632"/>
            <a:ext cx="704088" cy="201168"/>
          </a:xfrm>
          <a:prstGeom prst="rect">
            <a:avLst/>
          </a:prstGeom>
          <a:noFill/>
        </p:spPr>
        <p:txBody>
          <a:bodyPr wrap="none">
            <a:spAutoFit/>
          </a:bodyPr>
          <a:lstStyle/>
          <a:p>
            <a:pPr algn="ctr">
              <a:defRPr sz="800" b="0">
                <a:solidFill>
                  <a:srgbClr val="5A5A5A"/>
                </a:solidFill>
              </a:defRPr>
            </a:pPr>
            <a:r>
              <a:t>Manual</a:t>
            </a:r>
          </a:p>
        </p:txBody>
      </p:sp>
      <p:sp>
        <p:nvSpPr>
          <p:cNvPr id="11" name="Rectangle 10"/>
          <p:cNvSpPr/>
          <p:nvPr/>
        </p:nvSpPr>
        <p:spPr>
          <a:xfrm>
            <a:off x="8860536"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729216"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36608" y="484632"/>
            <a:ext cx="704088" cy="201168"/>
          </a:xfrm>
          <a:prstGeom prst="rect">
            <a:avLst/>
          </a:prstGeom>
          <a:noFill/>
        </p:spPr>
        <p:txBody>
          <a:bodyPr wrap="none">
            <a:spAutoFit/>
          </a:bodyPr>
          <a:lstStyle/>
          <a:p>
            <a:pPr algn="ctr">
              <a:defRPr sz="800" b="0">
                <a:solidFill>
                  <a:srgbClr val="5A5A5A"/>
                </a:solidFill>
              </a:defRPr>
            </a:pPr>
            <a:r>
              <a:t>Cases</a:t>
            </a:r>
          </a:p>
        </p:txBody>
      </p:sp>
      <p:sp>
        <p:nvSpPr>
          <p:cNvPr id="14" name="Rectangle 13"/>
          <p:cNvSpPr/>
          <p:nvPr/>
        </p:nvSpPr>
        <p:spPr>
          <a:xfrm>
            <a:off x="9848088"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716768" y="347472"/>
            <a:ext cx="118872" cy="118872"/>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60" y="484632"/>
            <a:ext cx="704088" cy="201168"/>
          </a:xfrm>
          <a:prstGeom prst="rect">
            <a:avLst/>
          </a:prstGeom>
          <a:noFill/>
        </p:spPr>
        <p:txBody>
          <a:bodyPr wrap="none">
            <a:spAutoFit/>
          </a:bodyPr>
          <a:lstStyle/>
          <a:p>
            <a:pPr algn="ctr">
              <a:defRPr sz="800" b="1">
                <a:solidFill>
                  <a:srgbClr val="2E86C1"/>
                </a:solidFill>
              </a:defRPr>
            </a:pPr>
            <a:r>
              <a:t>Verdict</a:t>
            </a:r>
          </a:p>
        </p:txBody>
      </p:sp>
      <p:sp>
        <p:nvSpPr>
          <p:cNvPr id="17" name="TextBox 16"/>
          <p:cNvSpPr txBox="1"/>
          <p:nvPr/>
        </p:nvSpPr>
        <p:spPr>
          <a:xfrm>
            <a:off x="457200" y="274320"/>
            <a:ext cx="11247120" cy="685800"/>
          </a:xfrm>
          <a:prstGeom prst="rect">
            <a:avLst/>
          </a:prstGeom>
          <a:noFill/>
        </p:spPr>
        <p:txBody>
          <a:bodyPr wrap="square">
            <a:spAutoFit/>
          </a:bodyPr>
          <a:lstStyle/>
          <a:p>
            <a:pPr>
              <a:defRPr sz="2600" b="1">
                <a:solidFill>
                  <a:srgbClr val="1B2A4A"/>
                </a:solidFill>
              </a:defRPr>
            </a:pPr>
            <a:r>
              <a:t>Key Findings</a:t>
            </a:r>
          </a:p>
        </p:txBody>
      </p:sp>
      <p:sp>
        <p:nvSpPr>
          <p:cNvPr id="18" name="TextBox 17"/>
          <p:cNvSpPr txBox="1"/>
          <p:nvPr/>
        </p:nvSpPr>
        <p:spPr>
          <a:xfrm>
            <a:off x="457200" y="749808"/>
            <a:ext cx="11247120" cy="320040"/>
          </a:xfrm>
          <a:prstGeom prst="rect">
            <a:avLst/>
          </a:prstGeom>
          <a:noFill/>
        </p:spPr>
        <p:txBody>
          <a:bodyPr wrap="square">
            <a:spAutoFit/>
          </a:bodyPr>
          <a:lstStyle/>
          <a:p>
            <a:pPr>
              <a:defRPr sz="1300" i="1">
                <a:solidFill>
                  <a:srgbClr val="5A5A5A"/>
                </a:solidFill>
              </a:defRPr>
            </a:pPr>
            <a:r>
              <a:t>Separating what we observed from what we conclude</a:t>
            </a:r>
          </a:p>
        </p:txBody>
      </p:sp>
      <p:sp>
        <p:nvSpPr>
          <p:cNvPr id="19" name="Rounded Rectangle 18"/>
          <p:cNvSpPr/>
          <p:nvPr/>
        </p:nvSpPr>
        <p:spPr>
          <a:xfrm>
            <a:off x="457200" y="1554480"/>
            <a:ext cx="5486400" cy="3794760"/>
          </a:xfrm>
          <a:prstGeom prst="roundRect">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840" y="2231136"/>
            <a:ext cx="5135880" cy="2033890"/>
          </a:xfrm>
          <a:prstGeom prst="rect">
            <a:avLst/>
          </a:prstGeom>
          <a:noFill/>
        </p:spPr>
        <p:txBody>
          <a:bodyPr wrap="square">
            <a:spAutoFit/>
          </a:bodyPr>
          <a:lstStyle/>
          <a:p>
            <a:pPr>
              <a:defRPr sz="1300" b="1">
                <a:solidFill>
                  <a:srgbClr val="2E86C1"/>
                </a:solidFill>
              </a:defRPr>
            </a:pPr>
            <a:r>
              <a:rPr dirty="0"/>
              <a:t>WHAT THE EXPERIMENT SHOWS (Observed)</a:t>
            </a:r>
          </a:p>
          <a:p>
            <a:pPr>
              <a:spcAft>
                <a:spcPts val="700"/>
              </a:spcAft>
              <a:defRPr sz="1200">
                <a:solidFill>
                  <a:srgbClr val="222222"/>
                </a:solidFill>
              </a:defRPr>
            </a:pPr>
            <a:r>
              <a:rPr dirty="0"/>
              <a:t>•  Few-shot has the highest ROUGE scores (R-1/R-2/R-L).</a:t>
            </a:r>
          </a:p>
          <a:p>
            <a:pPr>
              <a:spcAft>
                <a:spcPts val="700"/>
              </a:spcAft>
              <a:defRPr sz="1200">
                <a:solidFill>
                  <a:srgbClr val="222222"/>
                </a:solidFill>
              </a:defRPr>
            </a:pPr>
            <a:r>
              <a:rPr dirty="0"/>
              <a:t>•  Zero-shot has the highest BERTScore-F1 (0.7242).</a:t>
            </a:r>
          </a:p>
          <a:p>
            <a:pPr>
              <a:spcAft>
                <a:spcPts val="700"/>
              </a:spcAft>
              <a:defRPr sz="1200">
                <a:solidFill>
                  <a:srgbClr val="222222"/>
                </a:solidFill>
              </a:defRPr>
            </a:pPr>
            <a:r>
              <a:rPr dirty="0"/>
              <a:t>•  Structured </a:t>
            </a:r>
            <a:r>
              <a:rPr dirty="0" err="1"/>
              <a:t>CoT</a:t>
            </a:r>
            <a:r>
              <a:rPr dirty="0"/>
              <a:t> has the highest mean manual score: 2.24/5.</a:t>
            </a:r>
          </a:p>
          <a:p>
            <a:pPr>
              <a:spcAft>
                <a:spcPts val="700"/>
              </a:spcAft>
              <a:defRPr sz="1200">
                <a:solidFill>
                  <a:srgbClr val="222222"/>
                </a:solidFill>
              </a:defRPr>
            </a:pPr>
            <a:r>
              <a:rPr dirty="0"/>
              <a:t>•  </a:t>
            </a:r>
            <a:r>
              <a:rPr dirty="0" err="1"/>
              <a:t>CoT</a:t>
            </a:r>
            <a:r>
              <a:rPr dirty="0"/>
              <a:t> and Zero-shot differ by only 0.06 in manual score.</a:t>
            </a:r>
          </a:p>
          <a:p>
            <a:pPr>
              <a:spcAft>
                <a:spcPts val="700"/>
              </a:spcAft>
              <a:defRPr sz="1200">
                <a:solidFill>
                  <a:srgbClr val="222222"/>
                </a:solidFill>
              </a:defRPr>
            </a:pPr>
            <a:r>
              <a:rPr dirty="0"/>
              <a:t>•  Terminology/translation errors occur in ~90-100% of outputs across all methods.</a:t>
            </a:r>
          </a:p>
          <a:p>
            <a:pPr>
              <a:spcAft>
                <a:spcPts val="700"/>
              </a:spcAft>
              <a:defRPr sz="1200">
                <a:solidFill>
                  <a:srgbClr val="222222"/>
                </a:solidFill>
              </a:defRPr>
            </a:pPr>
            <a:r>
              <a:rPr dirty="0"/>
              <a:t>•  Important omissions remain frequent across all methods.</a:t>
            </a:r>
          </a:p>
        </p:txBody>
      </p:sp>
      <p:sp>
        <p:nvSpPr>
          <p:cNvPr id="21" name="Rounded Rectangle 20"/>
          <p:cNvSpPr/>
          <p:nvPr/>
        </p:nvSpPr>
        <p:spPr>
          <a:xfrm>
            <a:off x="6172200" y="1554480"/>
            <a:ext cx="5577840" cy="379476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2130552"/>
            <a:ext cx="5047488" cy="2072362"/>
          </a:xfrm>
          <a:prstGeom prst="rect">
            <a:avLst/>
          </a:prstGeom>
          <a:noFill/>
        </p:spPr>
        <p:txBody>
          <a:bodyPr wrap="square">
            <a:spAutoFit/>
          </a:bodyPr>
          <a:lstStyle/>
          <a:p>
            <a:pPr>
              <a:defRPr sz="1300" b="1">
                <a:solidFill>
                  <a:srgbClr val="C0392B"/>
                </a:solidFill>
              </a:defRPr>
            </a:pPr>
            <a:r>
              <a:rPr dirty="0"/>
              <a:t>WHAT THIS SUGGESTS (Interpretation)</a:t>
            </a:r>
          </a:p>
          <a:p>
            <a:pPr>
              <a:spcAft>
                <a:spcPts val="1000"/>
              </a:spcAft>
              <a:defRPr sz="1300">
                <a:solidFill>
                  <a:srgbClr val="222222"/>
                </a:solidFill>
              </a:defRPr>
            </a:pPr>
            <a:r>
              <a:rPr dirty="0"/>
              <a:t>Automatic similarity metrics alone are insufficient for evaluating legal summaries, because they do not directly assess legal correctness, factual validity, or critical omissions.</a:t>
            </a:r>
          </a:p>
          <a:p>
            <a:pPr>
              <a:spcAft>
                <a:spcPts val="1000"/>
              </a:spcAft>
              <a:defRPr sz="1200" i="1">
                <a:solidFill>
                  <a:srgbClr val="5A5A5A"/>
                </a:solidFill>
              </a:defRPr>
            </a:pPr>
            <a:r>
              <a:rPr dirty="0"/>
              <a:t>The case studies (S1, S8) illustrate this gap concretely: high textual overlap coexisted with a wrong government entity (S1) and an incorrect drug quantity that flipped the legal conclusion (S8).</a:t>
            </a:r>
          </a:p>
          <a:p>
            <a:pPr>
              <a:defRPr sz="1200" i="1">
                <a:solidFill>
                  <a:srgbClr val="5A5A5A"/>
                </a:solidFill>
              </a:defRPr>
            </a:pPr>
            <a:r>
              <a:rPr dirty="0"/>
              <a:t>The </a:t>
            </a:r>
            <a:r>
              <a:rPr dirty="0" err="1"/>
              <a:t>CoT</a:t>
            </a:r>
            <a:r>
              <a:rPr dirty="0"/>
              <a:t>-Zero-shot manual gap (0.06) is too small, on n=10, to claim </a:t>
            </a:r>
            <a:r>
              <a:rPr dirty="0" err="1"/>
              <a:t>CoT</a:t>
            </a:r>
            <a:r>
              <a:rPr dirty="0"/>
              <a:t> is a superior strategy.</a:t>
            </a:r>
          </a:p>
        </p:txBody>
      </p:sp>
      <p:sp>
        <p:nvSpPr>
          <p:cNvPr id="23" name="Rounded Rectangle 22"/>
          <p:cNvSpPr/>
          <p:nvPr/>
        </p:nvSpPr>
        <p:spPr>
          <a:xfrm>
            <a:off x="457200" y="5532120"/>
            <a:ext cx="11292840" cy="8686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5669280"/>
            <a:ext cx="11292840" cy="594360"/>
          </a:xfrm>
          <a:prstGeom prst="rect">
            <a:avLst/>
          </a:prstGeom>
          <a:noFill/>
        </p:spPr>
        <p:txBody>
          <a:bodyPr wrap="square">
            <a:spAutoFit/>
          </a:bodyPr>
          <a:lstStyle/>
          <a:p>
            <a:pPr algn="ctr">
              <a:defRPr sz="1800" b="1">
                <a:solidFill>
                  <a:srgbClr val="FFFFFF"/>
                </a:solidFill>
              </a:defRPr>
            </a:pPr>
            <a:r>
              <a:t>"High similarity is not necessarily high legal quality."</a:t>
            </a:r>
          </a:p>
        </p:txBody>
      </p:sp>
      <p:sp>
        <p:nvSpPr>
          <p:cNvPr id="25" name="Chevron 24"/>
          <p:cNvSpPr/>
          <p:nvPr/>
        </p:nvSpPr>
        <p:spPr>
          <a:xfrm>
            <a:off x="457200" y="6108192"/>
            <a:ext cx="274320" cy="329184"/>
          </a:xfrm>
          <a:prstGeom prst="chevron">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 y="6089904"/>
            <a:ext cx="10607040" cy="384048"/>
          </a:xfrm>
          <a:prstGeom prst="rect">
            <a:avLst/>
          </a:prstGeom>
          <a:noFill/>
        </p:spPr>
        <p:txBody>
          <a:bodyPr wrap="square">
            <a:spAutoFit/>
          </a:bodyPr>
          <a:lstStyle/>
          <a:p>
            <a:pPr>
              <a:defRPr sz="1200" b="1" i="1">
                <a:solidFill>
                  <a:srgbClr val="2E86C1"/>
                </a:solidFill>
              </a:defRPr>
            </a:pPr>
            <a:r>
              <a:t>That distinction shapes exactly what an honest researcher does next...</a:t>
            </a:r>
          </a:p>
        </p:txBody>
      </p:sp>
      <p:sp>
        <p:nvSpPr>
          <p:cNvPr id="27" name="TextBox 26"/>
          <p:cNvSpPr txBox="1"/>
          <p:nvPr/>
        </p:nvSpPr>
        <p:spPr>
          <a:xfrm>
            <a:off x="457200" y="6547104"/>
            <a:ext cx="6381875"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a:t>
            </a:r>
            <a:r>
              <a:rPr lang="en-IN" dirty="0"/>
              <a:t>11/</a:t>
            </a:r>
            <a:r>
              <a:rPr dirty="0"/>
              <a:t>1</a:t>
            </a:r>
            <a:r>
              <a:rPr lang="en-IN" dirty="0"/>
              <a:t>2</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766560"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73952" y="484632"/>
            <a:ext cx="704088" cy="201168"/>
          </a:xfrm>
          <a:prstGeom prst="rect">
            <a:avLst/>
          </a:prstGeom>
          <a:noFill/>
        </p:spPr>
        <p:txBody>
          <a:bodyPr wrap="none">
            <a:spAutoFit/>
          </a:bodyPr>
          <a:lstStyle/>
          <a:p>
            <a:pPr algn="ctr">
              <a:defRPr sz="800" b="0">
                <a:solidFill>
                  <a:srgbClr val="5A5A5A"/>
                </a:solidFill>
              </a:defRPr>
            </a:pPr>
            <a:r>
              <a:t>Setup</a:t>
            </a:r>
          </a:p>
        </p:txBody>
      </p:sp>
      <p:sp>
        <p:nvSpPr>
          <p:cNvPr id="5" name="Rectangle 4"/>
          <p:cNvSpPr/>
          <p:nvPr/>
        </p:nvSpPr>
        <p:spPr>
          <a:xfrm>
            <a:off x="6885432"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54112"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61504" y="484632"/>
            <a:ext cx="704088" cy="201168"/>
          </a:xfrm>
          <a:prstGeom prst="rect">
            <a:avLst/>
          </a:prstGeom>
          <a:noFill/>
        </p:spPr>
        <p:txBody>
          <a:bodyPr wrap="none">
            <a:spAutoFit/>
          </a:bodyPr>
          <a:lstStyle/>
          <a:p>
            <a:pPr algn="ctr">
              <a:defRPr sz="800" b="0">
                <a:solidFill>
                  <a:srgbClr val="5A5A5A"/>
                </a:solidFill>
              </a:defRPr>
            </a:pPr>
            <a:r>
              <a:t>Automatic</a:t>
            </a:r>
          </a:p>
        </p:txBody>
      </p:sp>
      <p:sp>
        <p:nvSpPr>
          <p:cNvPr id="8" name="Rectangle 7"/>
          <p:cNvSpPr/>
          <p:nvPr/>
        </p:nvSpPr>
        <p:spPr>
          <a:xfrm>
            <a:off x="7872984"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41664"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49056" y="484632"/>
            <a:ext cx="704088" cy="201168"/>
          </a:xfrm>
          <a:prstGeom prst="rect">
            <a:avLst/>
          </a:prstGeom>
          <a:noFill/>
        </p:spPr>
        <p:txBody>
          <a:bodyPr wrap="none">
            <a:spAutoFit/>
          </a:bodyPr>
          <a:lstStyle/>
          <a:p>
            <a:pPr algn="ctr">
              <a:defRPr sz="800" b="0">
                <a:solidFill>
                  <a:srgbClr val="5A5A5A"/>
                </a:solidFill>
              </a:defRPr>
            </a:pPr>
            <a:r>
              <a:t>Manual</a:t>
            </a:r>
          </a:p>
        </p:txBody>
      </p:sp>
      <p:sp>
        <p:nvSpPr>
          <p:cNvPr id="11" name="Rectangle 10"/>
          <p:cNvSpPr/>
          <p:nvPr/>
        </p:nvSpPr>
        <p:spPr>
          <a:xfrm>
            <a:off x="8860536"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729216" y="347472"/>
            <a:ext cx="118872" cy="118872"/>
          </a:xfrm>
          <a:prstGeom prst="ellipse">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36608" y="484632"/>
            <a:ext cx="704088" cy="201168"/>
          </a:xfrm>
          <a:prstGeom prst="rect">
            <a:avLst/>
          </a:prstGeom>
          <a:noFill/>
        </p:spPr>
        <p:txBody>
          <a:bodyPr wrap="none">
            <a:spAutoFit/>
          </a:bodyPr>
          <a:lstStyle/>
          <a:p>
            <a:pPr algn="ctr">
              <a:defRPr sz="800" b="0">
                <a:solidFill>
                  <a:srgbClr val="5A5A5A"/>
                </a:solidFill>
              </a:defRPr>
            </a:pPr>
            <a:r>
              <a:t>Cases</a:t>
            </a:r>
          </a:p>
        </p:txBody>
      </p:sp>
      <p:sp>
        <p:nvSpPr>
          <p:cNvPr id="14" name="Rectangle 13"/>
          <p:cNvSpPr/>
          <p:nvPr/>
        </p:nvSpPr>
        <p:spPr>
          <a:xfrm>
            <a:off x="9848088" y="397764"/>
            <a:ext cx="868680" cy="16459"/>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716768" y="347472"/>
            <a:ext cx="118872" cy="118872"/>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60" y="484632"/>
            <a:ext cx="704088" cy="201168"/>
          </a:xfrm>
          <a:prstGeom prst="rect">
            <a:avLst/>
          </a:prstGeom>
          <a:noFill/>
        </p:spPr>
        <p:txBody>
          <a:bodyPr wrap="none">
            <a:spAutoFit/>
          </a:bodyPr>
          <a:lstStyle/>
          <a:p>
            <a:pPr algn="ctr">
              <a:defRPr sz="800" b="1">
                <a:solidFill>
                  <a:srgbClr val="2E86C1"/>
                </a:solidFill>
              </a:defRPr>
            </a:pPr>
            <a:r>
              <a:t>Verdict</a:t>
            </a:r>
          </a:p>
        </p:txBody>
      </p:sp>
      <p:sp>
        <p:nvSpPr>
          <p:cNvPr id="17" name="TextBox 16"/>
          <p:cNvSpPr txBox="1"/>
          <p:nvPr/>
        </p:nvSpPr>
        <p:spPr>
          <a:xfrm>
            <a:off x="457200" y="274320"/>
            <a:ext cx="11247120" cy="685800"/>
          </a:xfrm>
          <a:prstGeom prst="rect">
            <a:avLst/>
          </a:prstGeom>
          <a:noFill/>
        </p:spPr>
        <p:txBody>
          <a:bodyPr wrap="square">
            <a:spAutoFit/>
          </a:bodyPr>
          <a:lstStyle/>
          <a:p>
            <a:pPr>
              <a:defRPr sz="2600" b="1">
                <a:solidFill>
                  <a:srgbClr val="1B2A4A"/>
                </a:solidFill>
              </a:defRPr>
            </a:pPr>
            <a:r>
              <a:t>Limitations &amp; Next Steps</a:t>
            </a:r>
          </a:p>
        </p:txBody>
      </p:sp>
      <p:sp>
        <p:nvSpPr>
          <p:cNvPr id="18" name="TextBox 17"/>
          <p:cNvSpPr txBox="1"/>
          <p:nvPr/>
        </p:nvSpPr>
        <p:spPr>
          <a:xfrm>
            <a:off x="457200" y="749808"/>
            <a:ext cx="11247120" cy="320040"/>
          </a:xfrm>
          <a:prstGeom prst="rect">
            <a:avLst/>
          </a:prstGeom>
          <a:noFill/>
        </p:spPr>
        <p:txBody>
          <a:bodyPr wrap="square">
            <a:spAutoFit/>
          </a:bodyPr>
          <a:lstStyle/>
          <a:p>
            <a:pPr>
              <a:defRPr sz="1300" i="1">
                <a:solidFill>
                  <a:srgbClr val="5A5A5A"/>
                </a:solidFill>
              </a:defRPr>
            </a:pPr>
            <a:r>
              <a:t>Closing the loop: what this study can't claim, and what comes next</a:t>
            </a:r>
          </a:p>
        </p:txBody>
      </p:sp>
      <p:sp>
        <p:nvSpPr>
          <p:cNvPr id="19" name="Rounded Rectangle 18"/>
          <p:cNvSpPr/>
          <p:nvPr/>
        </p:nvSpPr>
        <p:spPr>
          <a:xfrm>
            <a:off x="548640" y="1600200"/>
            <a:ext cx="5394960" cy="393192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7720" y="2267712"/>
            <a:ext cx="4907280" cy="2454518"/>
          </a:xfrm>
          <a:prstGeom prst="rect">
            <a:avLst/>
          </a:prstGeom>
          <a:noFill/>
        </p:spPr>
        <p:txBody>
          <a:bodyPr wrap="square">
            <a:spAutoFit/>
          </a:bodyPr>
          <a:lstStyle/>
          <a:p>
            <a:pPr>
              <a:defRPr sz="1600" b="1">
                <a:solidFill>
                  <a:srgbClr val="C0392B"/>
                </a:solidFill>
              </a:defRPr>
            </a:pPr>
            <a:r>
              <a:rPr dirty="0"/>
              <a:t>Limitations</a:t>
            </a:r>
          </a:p>
          <a:p>
            <a:pPr>
              <a:spcAft>
                <a:spcPts val="600"/>
              </a:spcAft>
              <a:defRPr sz="1250">
                <a:solidFill>
                  <a:srgbClr val="333333"/>
                </a:solidFill>
              </a:defRPr>
            </a:pPr>
            <a:r>
              <a:rPr dirty="0"/>
              <a:t>•  Only 10 cases </a:t>
            </a:r>
            <a:r>
              <a:rPr lang="en-IN" dirty="0"/>
              <a:t>are there so</a:t>
            </a:r>
            <a:r>
              <a:rPr dirty="0"/>
              <a:t> no statistical significance testing performed</a:t>
            </a:r>
          </a:p>
          <a:p>
            <a:pPr>
              <a:spcAft>
                <a:spcPts val="600"/>
              </a:spcAft>
              <a:defRPr sz="1250">
                <a:solidFill>
                  <a:srgbClr val="333333"/>
                </a:solidFill>
              </a:defRPr>
            </a:pPr>
            <a:r>
              <a:rPr dirty="0"/>
              <a:t>•  One model (Qwen 3.5 4B)</a:t>
            </a:r>
            <a:r>
              <a:rPr lang="en-IN" dirty="0"/>
              <a:t> is used so it</a:t>
            </a:r>
            <a:r>
              <a:rPr dirty="0"/>
              <a:t> may not </a:t>
            </a:r>
            <a:r>
              <a:rPr lang="en-IN" dirty="0"/>
              <a:t>be </a:t>
            </a:r>
            <a:r>
              <a:rPr dirty="0"/>
              <a:t>generalize</a:t>
            </a:r>
            <a:r>
              <a:rPr lang="en-IN" dirty="0"/>
              <a:t>d</a:t>
            </a:r>
            <a:r>
              <a:rPr dirty="0"/>
              <a:t> to other model families</a:t>
            </a:r>
          </a:p>
          <a:p>
            <a:pPr>
              <a:spcAft>
                <a:spcPts val="600"/>
              </a:spcAft>
              <a:defRPr sz="1250">
                <a:solidFill>
                  <a:srgbClr val="333333"/>
                </a:solidFill>
              </a:defRPr>
            </a:pPr>
            <a:r>
              <a:rPr dirty="0"/>
              <a:t>•  One language pair (English-&gt;Hindi)</a:t>
            </a:r>
          </a:p>
          <a:p>
            <a:pPr>
              <a:spcAft>
                <a:spcPts val="600"/>
              </a:spcAft>
              <a:defRPr sz="1250">
                <a:solidFill>
                  <a:srgbClr val="333333"/>
                </a:solidFill>
              </a:defRPr>
            </a:pPr>
            <a:r>
              <a:rPr dirty="0"/>
              <a:t>•  Manual evaluation done by a single annotator </a:t>
            </a:r>
            <a:r>
              <a:rPr lang="en-IN" dirty="0"/>
              <a:t>so</a:t>
            </a:r>
            <a:r>
              <a:rPr dirty="0"/>
              <a:t> partly subjective</a:t>
            </a:r>
          </a:p>
          <a:p>
            <a:pPr>
              <a:spcAft>
                <a:spcPts val="600"/>
              </a:spcAft>
              <a:defRPr sz="1250">
                <a:solidFill>
                  <a:srgbClr val="333333"/>
                </a:solidFill>
              </a:defRPr>
            </a:pPr>
            <a:r>
              <a:rPr dirty="0"/>
              <a:t>•  Reference-based metrics have inherent limitations for factual verification</a:t>
            </a:r>
          </a:p>
          <a:p>
            <a:pPr>
              <a:spcAft>
                <a:spcPts val="600"/>
              </a:spcAft>
              <a:defRPr sz="1250">
                <a:solidFill>
                  <a:srgbClr val="333333"/>
                </a:solidFill>
              </a:defRPr>
            </a:pPr>
            <a:r>
              <a:rPr dirty="0"/>
              <a:t>•  One generation failure occurred (S5, Few-shot); Few-shot error rates use n=9</a:t>
            </a:r>
          </a:p>
        </p:txBody>
      </p:sp>
      <p:sp>
        <p:nvSpPr>
          <p:cNvPr id="21" name="Rounded Rectangle 20"/>
          <p:cNvSpPr/>
          <p:nvPr/>
        </p:nvSpPr>
        <p:spPr>
          <a:xfrm>
            <a:off x="6172200" y="1600200"/>
            <a:ext cx="5440680" cy="3931920"/>
          </a:xfrm>
          <a:prstGeom prst="roundRect">
            <a:avLst/>
          </a:prstGeom>
          <a:solidFill>
            <a:srgbClr val="EA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56248" y="2505456"/>
            <a:ext cx="4828032" cy="1877437"/>
          </a:xfrm>
          <a:prstGeom prst="rect">
            <a:avLst/>
          </a:prstGeom>
          <a:noFill/>
        </p:spPr>
        <p:txBody>
          <a:bodyPr wrap="square">
            <a:spAutoFit/>
          </a:bodyPr>
          <a:lstStyle/>
          <a:p>
            <a:pPr>
              <a:defRPr sz="1600" b="1">
                <a:solidFill>
                  <a:srgbClr val="1E8E3E"/>
                </a:solidFill>
              </a:defRPr>
            </a:pPr>
            <a:r>
              <a:rPr dirty="0"/>
              <a:t>Next Steps</a:t>
            </a:r>
          </a:p>
          <a:p>
            <a:pPr>
              <a:spcAft>
                <a:spcPts val="600"/>
              </a:spcAft>
              <a:defRPr sz="1250">
                <a:solidFill>
                  <a:srgbClr val="333333"/>
                </a:solidFill>
              </a:defRPr>
            </a:pPr>
            <a:r>
              <a:rPr dirty="0"/>
              <a:t>•  Larger-scale </a:t>
            </a:r>
            <a:r>
              <a:rPr dirty="0" err="1"/>
              <a:t>MILDSum</a:t>
            </a:r>
            <a:r>
              <a:rPr dirty="0"/>
              <a:t> evaluation across more samples</a:t>
            </a:r>
          </a:p>
          <a:p>
            <a:pPr>
              <a:spcAft>
                <a:spcPts val="600"/>
              </a:spcAft>
              <a:defRPr sz="1250">
                <a:solidFill>
                  <a:srgbClr val="333333"/>
                </a:solidFill>
              </a:defRPr>
            </a:pPr>
            <a:r>
              <a:rPr dirty="0"/>
              <a:t>•  Test multiple legal domains and multiple multilingual models</a:t>
            </a:r>
          </a:p>
          <a:p>
            <a:pPr>
              <a:spcAft>
                <a:spcPts val="600"/>
              </a:spcAft>
              <a:defRPr sz="1250">
                <a:solidFill>
                  <a:srgbClr val="333333"/>
                </a:solidFill>
              </a:defRPr>
            </a:pPr>
            <a:r>
              <a:rPr dirty="0"/>
              <a:t>•  More robust factuality/faithfulness evaluation frameworks</a:t>
            </a:r>
          </a:p>
          <a:p>
            <a:pPr>
              <a:spcAft>
                <a:spcPts val="600"/>
              </a:spcAft>
              <a:defRPr sz="1250">
                <a:solidFill>
                  <a:srgbClr val="333333"/>
                </a:solidFill>
              </a:defRPr>
            </a:pPr>
            <a:r>
              <a:rPr dirty="0"/>
              <a:t>•  Legal-domain LLM-as-judge with human validation</a:t>
            </a:r>
          </a:p>
          <a:p>
            <a:pPr>
              <a:spcAft>
                <a:spcPts val="600"/>
              </a:spcAft>
              <a:defRPr sz="1250">
                <a:solidFill>
                  <a:srgbClr val="333333"/>
                </a:solidFill>
              </a:defRPr>
            </a:pPr>
            <a:r>
              <a:rPr dirty="0"/>
              <a:t>•  Automated entity/number/legal-holding consistency checks</a:t>
            </a:r>
          </a:p>
          <a:p>
            <a:pPr>
              <a:spcAft>
                <a:spcPts val="600"/>
              </a:spcAft>
              <a:defRPr sz="1250">
                <a:solidFill>
                  <a:srgbClr val="333333"/>
                </a:solidFill>
              </a:defRPr>
            </a:pPr>
            <a:r>
              <a:rPr dirty="0"/>
              <a:t>•  Formal statistical significance analysis with larger n</a:t>
            </a:r>
          </a:p>
        </p:txBody>
      </p:sp>
      <p:sp>
        <p:nvSpPr>
          <p:cNvPr id="23" name="TextBox 22"/>
          <p:cNvSpPr txBox="1"/>
          <p:nvPr/>
        </p:nvSpPr>
        <p:spPr>
          <a:xfrm>
            <a:off x="548640" y="5760720"/>
            <a:ext cx="11064240" cy="457200"/>
          </a:xfrm>
          <a:prstGeom prst="rect">
            <a:avLst/>
          </a:prstGeom>
          <a:noFill/>
        </p:spPr>
        <p:txBody>
          <a:bodyPr wrap="square">
            <a:spAutoFit/>
          </a:bodyPr>
          <a:lstStyle/>
          <a:p>
            <a:pPr algn="ctr">
              <a:defRPr sz="1300" i="1">
                <a:solidFill>
                  <a:srgbClr val="5A5A5A"/>
                </a:solidFill>
              </a:defRPr>
            </a:pPr>
            <a:r>
              <a:t>The story ends where it began: similarity is measurable, but legal correctness still needs a human in the loop.</a:t>
            </a:r>
          </a:p>
        </p:txBody>
      </p:sp>
      <p:sp>
        <p:nvSpPr>
          <p:cNvPr id="24" name="TextBox 23"/>
          <p:cNvSpPr txBox="1"/>
          <p:nvPr/>
        </p:nvSpPr>
        <p:spPr>
          <a:xfrm>
            <a:off x="457200" y="6547104"/>
            <a:ext cx="6381875" cy="238527"/>
          </a:xfrm>
          <a:prstGeom prst="rect">
            <a:avLst/>
          </a:prstGeom>
          <a:noFill/>
        </p:spPr>
        <p:txBody>
          <a:bodyPr wrap="none">
            <a:spAutoFit/>
          </a:bodyPr>
          <a:lstStyle/>
          <a:p>
            <a:pPr>
              <a:defRPr sz="950">
                <a:solidFill>
                  <a:srgbClr val="5A5A5A"/>
                </a:solidFill>
              </a:defRPr>
            </a:pPr>
            <a:r>
              <a:rPr dirty="0" err="1"/>
              <a:t>MILDSum</a:t>
            </a:r>
            <a:r>
              <a:rPr dirty="0"/>
              <a:t> • </a:t>
            </a:r>
            <a:r>
              <a:rPr dirty="0" err="1"/>
              <a:t>English→Hindi</a:t>
            </a:r>
            <a:r>
              <a:rPr dirty="0"/>
              <a:t> • Qwen 3.5 4B • 10-case exploratory study                                                                                          1</a:t>
            </a:r>
            <a:r>
              <a:rPr lang="en-IN" dirty="0"/>
              <a:t>2</a:t>
            </a:r>
            <a:r>
              <a:rPr dirty="0"/>
              <a:t>/1</a:t>
            </a:r>
            <a:r>
              <a:rPr lang="en-IN" dirty="0"/>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90</TotalTime>
  <Words>2360</Words>
  <Application>Microsoft Office PowerPoint</Application>
  <PresentationFormat>Widescreen</PresentationFormat>
  <Paragraphs>246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Ankita Mishra</cp:lastModifiedBy>
  <cp:revision>5</cp:revision>
  <dcterms:created xsi:type="dcterms:W3CDTF">2013-01-27T09:14:16Z</dcterms:created>
  <dcterms:modified xsi:type="dcterms:W3CDTF">2026-09-04T15:34:07Z</dcterms:modified>
  <cp:category/>
</cp:coreProperties>
</file>